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A6F157-5DA8-3668-E767-6A0BED24FB59}" v="1375" dt="2025-12-06T15:35:31.3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085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345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942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1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6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1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140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1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95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1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94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1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906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1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600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96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6923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1" r:id="rId6"/>
    <p:sldLayoutId id="2147483737" r:id="rId7"/>
    <p:sldLayoutId id="2147483738" r:id="rId8"/>
    <p:sldLayoutId id="2147483739" r:id="rId9"/>
    <p:sldLayoutId id="2147483740" r:id="rId10"/>
    <p:sldLayoutId id="2147483742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ourName/rl-dqn-cartpole.git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7BAA92-C6E7-9BC1-0A42-F3F05D008F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" r="10841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B17514E-A6FB-E691-BEE8-378E57EA2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2000" cy="4043806"/>
          </a:xfrm>
          <a:prstGeom prst="rect">
            <a:avLst/>
          </a:prstGeom>
          <a:gradFill>
            <a:gsLst>
              <a:gs pos="55000">
                <a:srgbClr val="000000">
                  <a:alpha val="2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5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A952F34F-0117-52A3-0EDA-14BB27B65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 w 12192000"/>
              <a:gd name="connsiteY1" fmla="*/ 0 h 6858000"/>
              <a:gd name="connsiteX2" fmla="*/ 1 w 12192000"/>
              <a:gd name="connsiteY2" fmla="*/ 4898693 h 6858000"/>
              <a:gd name="connsiteX3" fmla="*/ 13428 w 12192000"/>
              <a:gd name="connsiteY3" fmla="*/ 5031883 h 6858000"/>
              <a:gd name="connsiteX4" fmla="*/ 660931 w 12192000"/>
              <a:gd name="connsiteY4" fmla="*/ 5559613 h 6858000"/>
              <a:gd name="connsiteX5" fmla="*/ 11531069 w 12192000"/>
              <a:gd name="connsiteY5" fmla="*/ 5559613 h 6858000"/>
              <a:gd name="connsiteX6" fmla="*/ 12192000 w 12192000"/>
              <a:gd name="connsiteY6" fmla="*/ 4898682 h 6858000"/>
              <a:gd name="connsiteX7" fmla="*/ 12192000 w 12192000"/>
              <a:gd name="connsiteY7" fmla="*/ 6858000 h 6858000"/>
              <a:gd name="connsiteX8" fmla="*/ 0 w 12192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" y="0"/>
                </a:lnTo>
                <a:lnTo>
                  <a:pt x="1" y="4898693"/>
                </a:lnTo>
                <a:lnTo>
                  <a:pt x="13428" y="5031883"/>
                </a:lnTo>
                <a:cubicBezTo>
                  <a:pt x="75057" y="5333058"/>
                  <a:pt x="341537" y="5559613"/>
                  <a:pt x="660931" y="5559613"/>
                </a:cubicBezTo>
                <a:lnTo>
                  <a:pt x="11531069" y="5559613"/>
                </a:lnTo>
                <a:cubicBezTo>
                  <a:pt x="11896091" y="5559613"/>
                  <a:pt x="12192000" y="5263704"/>
                  <a:pt x="12192000" y="4898682"/>
                </a:cubicBez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2838" y="726909"/>
            <a:ext cx="8889400" cy="3316897"/>
          </a:xfrm>
        </p:spPr>
        <p:txBody>
          <a:bodyPr anchor="t">
            <a:normAutofit/>
          </a:bodyPr>
          <a:lstStyle/>
          <a:p>
            <a:r>
              <a:rPr lang="ko-KR" altLang="en-US" sz="4800" dirty="0">
                <a:solidFill>
                  <a:srgbClr val="FFFFFF"/>
                </a:solidFill>
                <a:ea typeface="맑은 고딕"/>
              </a:rPr>
              <a:t>강화학습 </a:t>
            </a:r>
            <a:br>
              <a:rPr lang="ko-KR" altLang="en-US" sz="4800" dirty="0">
                <a:solidFill>
                  <a:srgbClr val="FFFFFF"/>
                </a:solidFill>
                <a:ea typeface="맑은 고딕"/>
              </a:rPr>
            </a:br>
            <a:r>
              <a:rPr lang="ko-KR" altLang="en-US" sz="3600" dirty="0" err="1">
                <a:solidFill>
                  <a:srgbClr val="FFFFFF"/>
                </a:solidFill>
                <a:latin typeface="Malgun Gothic"/>
                <a:ea typeface="Malgun Gothic"/>
              </a:rPr>
              <a:t>Reproducing</a:t>
            </a:r>
            <a:r>
              <a:rPr lang="ko-KR" altLang="en-US" sz="3600" dirty="0">
                <a:solidFill>
                  <a:srgbClr val="FFFFFF"/>
                </a:solidFill>
                <a:latin typeface="Malgun Gothic"/>
                <a:ea typeface="Malgun Gothic"/>
              </a:rPr>
              <a:t> </a:t>
            </a:r>
            <a:r>
              <a:rPr lang="ko-KR" altLang="en-US" sz="3600" dirty="0" err="1">
                <a:solidFill>
                  <a:srgbClr val="FFFFFF"/>
                </a:solidFill>
                <a:latin typeface="Malgun Gothic"/>
                <a:ea typeface="Malgun Gothic"/>
              </a:rPr>
              <a:t>Deep</a:t>
            </a:r>
            <a:r>
              <a:rPr lang="ko-KR" altLang="en-US" sz="3600" dirty="0">
                <a:solidFill>
                  <a:srgbClr val="FFFFFF"/>
                </a:solidFill>
                <a:latin typeface="Malgun Gothic"/>
                <a:ea typeface="Malgun Gothic"/>
              </a:rPr>
              <a:t> </a:t>
            </a:r>
            <a:r>
              <a:rPr lang="ko-KR" altLang="en-US" sz="3600" dirty="0" err="1">
                <a:solidFill>
                  <a:srgbClr val="FFFFFF"/>
                </a:solidFill>
                <a:latin typeface="Malgun Gothic"/>
                <a:ea typeface="Malgun Gothic"/>
              </a:rPr>
              <a:t>Q-network</a:t>
            </a:r>
            <a:r>
              <a:rPr lang="ko-KR" altLang="en-US" sz="3600" dirty="0">
                <a:solidFill>
                  <a:srgbClr val="FFFFFF"/>
                </a:solidFill>
                <a:latin typeface="Malgun Gothic"/>
                <a:ea typeface="Malgun Gothic"/>
              </a:rPr>
              <a:t>(DQN) </a:t>
            </a:r>
            <a:r>
              <a:rPr lang="ko-KR" altLang="en-US" sz="3600" dirty="0" err="1">
                <a:solidFill>
                  <a:srgbClr val="FFFFFF"/>
                </a:solidFill>
                <a:latin typeface="Malgun Gothic"/>
                <a:ea typeface="Malgun Gothic"/>
              </a:rPr>
              <a:t>on</a:t>
            </a:r>
            <a:r>
              <a:rPr lang="ko-KR" altLang="en-US" sz="3600" dirty="0">
                <a:solidFill>
                  <a:srgbClr val="FFFFFF"/>
                </a:solidFill>
                <a:latin typeface="Malgun Gothic"/>
                <a:ea typeface="Malgun Gothic"/>
              </a:rPr>
              <a:t> CartPole-v1</a:t>
            </a:r>
            <a:br>
              <a:rPr lang="ko-KR" altLang="en-US" sz="3600" dirty="0">
                <a:solidFill>
                  <a:srgbClr val="FFFFFF"/>
                </a:solidFill>
                <a:latin typeface="Malgun Gothic"/>
                <a:ea typeface="Malgun Gothic"/>
              </a:rPr>
            </a:br>
            <a:r>
              <a:rPr lang="ko-KR" altLang="en-US" sz="3600" dirty="0">
                <a:solidFill>
                  <a:srgbClr val="FFFFFF"/>
                </a:solidFill>
                <a:latin typeface="Malgun Gothic"/>
                <a:ea typeface="Malgun Gothic"/>
              </a:rPr>
              <a:t>(재현 가능한 </a:t>
            </a:r>
            <a:r>
              <a:rPr lang="ko-KR" altLang="en-US" sz="3600" dirty="0" err="1">
                <a:solidFill>
                  <a:srgbClr val="FFFFFF"/>
                </a:solidFill>
                <a:latin typeface="Malgun Gothic"/>
                <a:ea typeface="Malgun Gothic"/>
              </a:rPr>
              <a:t>DeepRL</a:t>
            </a:r>
            <a:r>
              <a:rPr lang="ko-KR" altLang="en-US" sz="3600" dirty="0">
                <a:solidFill>
                  <a:srgbClr val="FFFFFF"/>
                </a:solidFill>
                <a:latin typeface="Malgun Gothic"/>
                <a:ea typeface="Malgun Gothic"/>
              </a:rPr>
              <a:t>: DQN 논문의 </a:t>
            </a:r>
            <a:r>
              <a:rPr lang="ko-KR" altLang="en-US" sz="3600" dirty="0" err="1">
                <a:solidFill>
                  <a:srgbClr val="FFFFFF"/>
                </a:solidFill>
                <a:latin typeface="Malgun Gothic"/>
                <a:ea typeface="Malgun Gothic"/>
              </a:rPr>
              <a:t>Cartpole</a:t>
            </a:r>
            <a:r>
              <a:rPr lang="ko-KR" altLang="en-US" sz="3600" dirty="0">
                <a:solidFill>
                  <a:srgbClr val="FFFFFF"/>
                </a:solidFill>
                <a:latin typeface="Malgun Gothic"/>
                <a:ea typeface="Malgun Gothic"/>
              </a:rPr>
              <a:t> 환경 적용)​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85361" y="5878553"/>
            <a:ext cx="11228992" cy="844071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r>
              <a:rPr lang="ko-KR" altLang="en-US" dirty="0">
                <a:ea typeface="맑은 고딕"/>
              </a:rPr>
              <a:t>담당교수 : </a:t>
            </a:r>
            <a:r>
              <a:rPr lang="ko-KR" altLang="en-US" err="1">
                <a:ea typeface="맑은 고딕"/>
              </a:rPr>
              <a:t>소정민</a:t>
            </a:r>
            <a:r>
              <a:rPr lang="ko-KR" altLang="en-US" dirty="0">
                <a:ea typeface="맑은 고딕"/>
              </a:rPr>
              <a:t> 학번/이름: A70038 김민아</a:t>
            </a:r>
          </a:p>
          <a:p>
            <a:r>
              <a:rPr lang="ko-KR" altLang="en-US">
                <a:ea typeface="맑은 고딕"/>
              </a:rPr>
              <a:t>Github: </a:t>
            </a:r>
            <a:r>
              <a:rPr lang="ko-KR" dirty="0">
                <a:ea typeface="+mn-lt"/>
                <a:cs typeface="+mn-lt"/>
                <a:hlinkClick r:id="rId3"/>
              </a:rPr>
              <a:t>https://</a:t>
            </a:r>
            <a:r>
              <a:rPr lang="en-US" altLang="ko-KR" dirty="0">
                <a:ea typeface="+mn-lt"/>
                <a:cs typeface="+mn-lt"/>
                <a:hlinkClick r:id="rId3"/>
              </a:rPr>
              <a:t>https://</a:t>
            </a:r>
            <a:r>
              <a:rPr lang="ko-KR" dirty="0">
                <a:ea typeface="+mn-lt"/>
                <a:cs typeface="+mn-lt"/>
                <a:hlinkClick r:id="rId3"/>
              </a:rPr>
              <a:t>github.com/</a:t>
            </a:r>
            <a:r>
              <a:rPr lang="en-US" altLang="ko-KR" dirty="0">
                <a:ea typeface="+mn-lt"/>
                <a:cs typeface="+mn-lt"/>
                <a:hlinkClick r:id="rId3"/>
              </a:rPr>
              <a:t>Minah-lucia</a:t>
            </a:r>
            <a:r>
              <a:rPr lang="ko-KR" dirty="0">
                <a:ea typeface="+mn-lt"/>
                <a:cs typeface="+mn-lt"/>
                <a:hlinkClick r:id="rId3"/>
              </a:rPr>
              <a:t>/rl-dqn-cartpole</a:t>
            </a:r>
            <a:endParaRPr lang="ko-KR" altLang="en-US">
              <a:ea typeface="+mn-lt"/>
              <a:cs typeface="+mn-lt"/>
            </a:endParaRPr>
          </a:p>
          <a:p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8CA9E9D-6A76-A56D-C4DE-0910EA872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B7E5ED-F72A-DBA0-549D-BABA6DAC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40660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0 h 6858000"/>
              <a:gd name="connsiteX0" fmla="*/ 0 w 12192000"/>
              <a:gd name="connsiteY0" fmla="*/ 0 h 2406604"/>
              <a:gd name="connsiteX1" fmla="*/ 12192000 w 12192000"/>
              <a:gd name="connsiteY1" fmla="*/ 0 h 2406604"/>
              <a:gd name="connsiteX2" fmla="*/ 12192000 w 12192000"/>
              <a:gd name="connsiteY2" fmla="*/ 2406593 h 2406604"/>
              <a:gd name="connsiteX3" fmla="*/ 12178573 w 12192000"/>
              <a:gd name="connsiteY3" fmla="*/ 2273403 h 2406604"/>
              <a:gd name="connsiteX4" fmla="*/ 11531070 w 12192000"/>
              <a:gd name="connsiteY4" fmla="*/ 1745673 h 2406604"/>
              <a:gd name="connsiteX5" fmla="*/ 660932 w 12192000"/>
              <a:gd name="connsiteY5" fmla="*/ 1745673 h 2406604"/>
              <a:gd name="connsiteX6" fmla="*/ 1 w 12192000"/>
              <a:gd name="connsiteY6" fmla="*/ 2406604 h 2406604"/>
              <a:gd name="connsiteX7" fmla="*/ 0 w 12192000"/>
              <a:gd name="connsiteY7" fmla="*/ 0 h 240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406604">
                <a:moveTo>
                  <a:pt x="0" y="0"/>
                </a:moveTo>
                <a:lnTo>
                  <a:pt x="12192000" y="0"/>
                </a:lnTo>
                <a:lnTo>
                  <a:pt x="12192000" y="2406593"/>
                </a:lnTo>
                <a:lnTo>
                  <a:pt x="12178573" y="2273403"/>
                </a:lnTo>
                <a:cubicBezTo>
                  <a:pt x="12116944" y="1972228"/>
                  <a:pt x="11850464" y="1745673"/>
                  <a:pt x="11531070" y="1745673"/>
                </a:cubicBezTo>
                <a:lnTo>
                  <a:pt x="660932" y="1745673"/>
                </a:lnTo>
                <a:cubicBezTo>
                  <a:pt x="295910" y="1745673"/>
                  <a:pt x="1" y="2041582"/>
                  <a:pt x="1" y="2406604"/>
                </a:cubicBezTo>
                <a:cubicBezTo>
                  <a:pt x="1" y="1604403"/>
                  <a:pt x="0" y="802201"/>
                  <a:pt x="0" y="0"/>
                </a:cubicBez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9672BFE-33F8-5BB5-C11B-43257EB75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818" y="264120"/>
            <a:ext cx="9095508" cy="1343007"/>
          </a:xfrm>
        </p:spPr>
        <p:txBody>
          <a:bodyPr anchor="ctr">
            <a:normAutofit/>
          </a:bodyPr>
          <a:lstStyle/>
          <a:p>
            <a:pPr marL="742950" indent="-742950">
              <a:buAutoNum type="arabicPeriod"/>
            </a:pPr>
            <a:r>
              <a:rPr lang="ko-KR" altLang="en-US" dirty="0">
                <a:solidFill>
                  <a:schemeClr val="bg1"/>
                </a:solidFill>
              </a:rPr>
              <a:t>프로젝트 개요 및 목표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49C0CF-7BAD-EF2C-E19E-490556FB16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12/6/2025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B3F3FA-51AF-ACB5-B8B3-7BB29C9E5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818" y="2401372"/>
            <a:ext cx="9958565" cy="4202878"/>
          </a:xfrm>
        </p:spPr>
        <p:txBody>
          <a:bodyPr anchor="ctr">
            <a:normAutofit fontScale="85000" lnSpcReduction="10000"/>
          </a:bodyPr>
          <a:lstStyle/>
          <a:p>
            <a:pPr>
              <a:buFont typeface="Wingdings" panose="020B0604020202020204" pitchFamily="34" charset="0"/>
              <a:buChar char="§"/>
            </a:pPr>
            <a:r>
              <a:rPr lang="ko-KR" altLang="en-US" dirty="0">
                <a:latin typeface="Malgun Gothic"/>
                <a:ea typeface="Malgun Gothic"/>
              </a:rPr>
              <a:t>프로젝트 목표</a:t>
            </a:r>
            <a:endParaRPr lang="ko-KR">
              <a:latin typeface="Malgun Gothic"/>
              <a:ea typeface="Malgun Gothic"/>
            </a:endParaRPr>
          </a:p>
          <a:p>
            <a:pPr marL="0" indent="0">
              <a:buNone/>
            </a:pPr>
            <a:r>
              <a:rPr lang="ko-KR" altLang="en-US" dirty="0">
                <a:latin typeface="Malgun Gothic"/>
                <a:ea typeface="Malgun Gothic"/>
              </a:rPr>
              <a:t> - </a:t>
            </a:r>
            <a:r>
              <a:rPr lang="ko-KR" altLang="en-US" dirty="0" err="1">
                <a:latin typeface="Malgun Gothic"/>
                <a:ea typeface="Malgun Gothic"/>
              </a:rPr>
              <a:t>Deep</a:t>
            </a:r>
            <a:r>
              <a:rPr lang="ko-KR" altLang="en-US" dirty="0">
                <a:latin typeface="Malgun Gothic"/>
                <a:ea typeface="Malgun Gothic"/>
              </a:rPr>
              <a:t> </a:t>
            </a:r>
            <a:r>
              <a:rPr lang="ko-KR" altLang="en-US" dirty="0" err="1">
                <a:latin typeface="Malgun Gothic"/>
                <a:ea typeface="Malgun Gothic"/>
              </a:rPr>
              <a:t>Q-network</a:t>
            </a:r>
            <a:r>
              <a:rPr lang="ko-KR" altLang="en-US" dirty="0">
                <a:latin typeface="Malgun Gothic"/>
                <a:ea typeface="Malgun Gothic"/>
              </a:rPr>
              <a:t>(DQN)논문에서 제안된 알고리즘을 Cartpole-v1 환경에서 구현하고 재현</a:t>
            </a:r>
          </a:p>
          <a:p>
            <a:pPr marL="0" indent="0">
              <a:buNone/>
            </a:pPr>
            <a:r>
              <a:rPr lang="ko-KR" altLang="en-US" dirty="0">
                <a:latin typeface="Malgun Gothic"/>
                <a:ea typeface="Malgun Gothic"/>
              </a:rPr>
              <a:t>    - </a:t>
            </a:r>
            <a:r>
              <a:rPr lang="ko-KR" altLang="en-US" dirty="0" err="1">
                <a:latin typeface="Malgun Gothic"/>
                <a:ea typeface="Malgun Gothic"/>
              </a:rPr>
              <a:t>DQN의</a:t>
            </a:r>
            <a:r>
              <a:rPr lang="ko-KR" altLang="en-US" dirty="0">
                <a:latin typeface="Malgun Gothic"/>
                <a:ea typeface="Malgun Gothic"/>
              </a:rPr>
              <a:t> 아이디어인 </a:t>
            </a:r>
            <a:r>
              <a:rPr lang="ko-KR" altLang="en-US" dirty="0" err="1">
                <a:latin typeface="Malgun Gothic"/>
                <a:ea typeface="Malgun Gothic"/>
              </a:rPr>
              <a:t>Q-network+Experience</a:t>
            </a:r>
            <a:r>
              <a:rPr lang="ko-KR" altLang="en-US" dirty="0">
                <a:latin typeface="Malgun Gothic"/>
                <a:ea typeface="Malgun Gothic"/>
              </a:rPr>
              <a:t> </a:t>
            </a:r>
            <a:r>
              <a:rPr lang="ko-KR" altLang="en-US" dirty="0" err="1">
                <a:latin typeface="Malgun Gothic"/>
                <a:ea typeface="Malgun Gothic"/>
              </a:rPr>
              <a:t>Replay</a:t>
            </a:r>
            <a:r>
              <a:rPr lang="ko-KR" altLang="en-US" dirty="0">
                <a:latin typeface="Malgun Gothic"/>
                <a:ea typeface="Malgun Gothic"/>
              </a:rPr>
              <a:t> + Target </a:t>
            </a:r>
            <a:r>
              <a:rPr lang="ko-KR" altLang="en-US" dirty="0" err="1">
                <a:latin typeface="Malgun Gothic"/>
                <a:ea typeface="Malgun Gothic"/>
              </a:rPr>
              <a:t>Network를</a:t>
            </a:r>
            <a:r>
              <a:rPr lang="ko-KR" altLang="en-US" dirty="0">
                <a:latin typeface="Malgun Gothic"/>
                <a:ea typeface="Malgun Gothic"/>
              </a:rPr>
              <a:t> 코드 수준에서 이해</a:t>
            </a:r>
          </a:p>
          <a:p>
            <a:pPr marL="0" indent="0">
              <a:buNone/>
            </a:pPr>
            <a:endParaRPr lang="ko-KR" altLang="en-US" dirty="0">
              <a:latin typeface="Malgun Gothic"/>
              <a:ea typeface="Malgun Gothic"/>
            </a:endParaRPr>
          </a:p>
          <a:p>
            <a:pPr marL="285750" indent="-285750">
              <a:buFont typeface="Wingdings" panose="020B0604020202020204" pitchFamily="34" charset="0"/>
              <a:buChar char="§"/>
            </a:pPr>
            <a:r>
              <a:rPr lang="ko-KR" altLang="en-US" dirty="0" err="1">
                <a:latin typeface="Malgun Gothic"/>
                <a:ea typeface="Malgun Gothic"/>
              </a:rPr>
              <a:t>Cartpole을</a:t>
            </a:r>
            <a:r>
              <a:rPr lang="ko-KR" altLang="en-US" dirty="0">
                <a:latin typeface="Malgun Gothic"/>
                <a:ea typeface="Malgun Gothic"/>
              </a:rPr>
              <a:t> 선택한 이유</a:t>
            </a:r>
          </a:p>
          <a:p>
            <a:pPr marL="0" indent="0">
              <a:buNone/>
            </a:pPr>
            <a:r>
              <a:rPr lang="ko-KR" altLang="en-US" dirty="0">
                <a:latin typeface="Malgun Gothic"/>
                <a:ea typeface="Malgun Gothic"/>
              </a:rPr>
              <a:t>    - </a:t>
            </a:r>
            <a:r>
              <a:rPr lang="ko-KR" altLang="en-US" dirty="0" err="1">
                <a:latin typeface="Malgun Gothic"/>
                <a:ea typeface="Malgun Gothic"/>
              </a:rPr>
              <a:t>state와</a:t>
            </a:r>
            <a:r>
              <a:rPr lang="ko-KR" altLang="en-US" dirty="0">
                <a:latin typeface="Malgun Gothic"/>
                <a:ea typeface="Malgun Gothic"/>
              </a:rPr>
              <a:t> </a:t>
            </a:r>
            <a:r>
              <a:rPr lang="ko-KR" altLang="en-US" dirty="0" err="1">
                <a:latin typeface="Malgun Gothic"/>
                <a:ea typeface="Malgun Gothic"/>
              </a:rPr>
              <a:t>action이</a:t>
            </a:r>
            <a:r>
              <a:rPr lang="ko-KR" altLang="en-US" dirty="0">
                <a:latin typeface="Malgun Gothic"/>
                <a:ea typeface="Malgun Gothic"/>
              </a:rPr>
              <a:t> 간단해서 알고리즘 자체 이해 및 관찰 가능</a:t>
            </a:r>
          </a:p>
          <a:p>
            <a:pPr marL="0" indent="0">
              <a:buNone/>
            </a:pPr>
            <a:r>
              <a:rPr lang="ko-KR" altLang="en-US" dirty="0">
                <a:latin typeface="Malgun Gothic"/>
                <a:ea typeface="Malgun Gothic"/>
              </a:rPr>
              <a:t>    - 비교적 적은 연산으로 학습과정과 수렴 확인 가능</a:t>
            </a:r>
          </a:p>
          <a:p>
            <a:pPr marL="0" indent="0">
              <a:buNone/>
            </a:pPr>
            <a:endParaRPr lang="ko-KR" altLang="en-US" dirty="0">
              <a:latin typeface="Malgun Gothic"/>
              <a:ea typeface="Malgun Gothic"/>
            </a:endParaRPr>
          </a:p>
          <a:p>
            <a:pPr marL="285750" indent="-285750">
              <a:buFont typeface="Wingdings" panose="020B0604020202020204" pitchFamily="34" charset="0"/>
              <a:buChar char="§"/>
            </a:pPr>
            <a:r>
              <a:rPr lang="ko-KR" altLang="en-US" dirty="0">
                <a:latin typeface="Malgun Gothic"/>
                <a:ea typeface="Malgun Gothic"/>
              </a:rPr>
              <a:t>기대효과</a:t>
            </a:r>
          </a:p>
          <a:p>
            <a:pPr marL="0" indent="0">
              <a:buNone/>
            </a:pPr>
            <a:r>
              <a:rPr lang="ko-KR" altLang="en-US" dirty="0">
                <a:latin typeface="Malgun Gothic"/>
                <a:ea typeface="Malgun Gothic"/>
              </a:rPr>
              <a:t>    - 고전적인 </a:t>
            </a:r>
            <a:r>
              <a:rPr lang="ko-KR" altLang="en-US" dirty="0" err="1">
                <a:latin typeface="Malgun Gothic"/>
                <a:ea typeface="Malgun Gothic"/>
              </a:rPr>
              <a:t>Q-learning과</a:t>
            </a:r>
            <a:r>
              <a:rPr lang="ko-KR" altLang="en-US" dirty="0">
                <a:latin typeface="Malgun Gothic"/>
                <a:ea typeface="Malgun Gothic"/>
              </a:rPr>
              <a:t> </a:t>
            </a:r>
            <a:r>
              <a:rPr lang="ko-KR" altLang="en-US" dirty="0" err="1">
                <a:latin typeface="Malgun Gothic"/>
                <a:ea typeface="Malgun Gothic"/>
              </a:rPr>
              <a:t>Deep</a:t>
            </a:r>
            <a:r>
              <a:rPr lang="ko-KR" altLang="en-US" dirty="0">
                <a:latin typeface="Malgun Gothic"/>
                <a:ea typeface="Malgun Gothic"/>
              </a:rPr>
              <a:t> </a:t>
            </a:r>
            <a:r>
              <a:rPr lang="ko-KR" altLang="en-US" dirty="0" err="1">
                <a:latin typeface="Malgun Gothic"/>
                <a:ea typeface="Malgun Gothic"/>
              </a:rPr>
              <a:t>Q-network</a:t>
            </a:r>
            <a:r>
              <a:rPr lang="ko-KR" altLang="en-US" dirty="0">
                <a:latin typeface="Malgun Gothic"/>
                <a:ea typeface="Malgun Gothic"/>
              </a:rPr>
              <a:t> 차이를 학습</a:t>
            </a:r>
          </a:p>
          <a:p>
            <a:pPr marL="0" indent="0">
              <a:buNone/>
            </a:pPr>
            <a:r>
              <a:rPr lang="ko-KR" altLang="en-US" dirty="0">
                <a:latin typeface="Malgun Gothic"/>
                <a:ea typeface="Malgun Gothic"/>
              </a:rPr>
              <a:t>    - 논문 알고리즘을 실제코드와 실험으로 경험</a:t>
            </a:r>
          </a:p>
          <a:p>
            <a:pPr marL="0" indent="0">
              <a:buNone/>
            </a:pPr>
            <a:endParaRPr lang="ko-KR" altLang="en-US" dirty="0"/>
          </a:p>
          <a:p>
            <a:pPr marL="0" indent="0">
              <a:buNone/>
            </a:pPr>
            <a:endParaRPr lang="ko-KR" altLang="en-US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D7AE67-D576-E6E4-EB92-4A619B3A0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07E12-CCD2-A79B-2943-D549FC9AB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513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710E1-B4F3-7129-C7D9-CA0278B6F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275B5D3-5018-F2AC-EA1D-F1E2F73E0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871B932-C818-42CC-254F-2BC392F07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40660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0 h 6858000"/>
              <a:gd name="connsiteX0" fmla="*/ 0 w 12192000"/>
              <a:gd name="connsiteY0" fmla="*/ 0 h 2406604"/>
              <a:gd name="connsiteX1" fmla="*/ 12192000 w 12192000"/>
              <a:gd name="connsiteY1" fmla="*/ 0 h 2406604"/>
              <a:gd name="connsiteX2" fmla="*/ 12192000 w 12192000"/>
              <a:gd name="connsiteY2" fmla="*/ 2406593 h 2406604"/>
              <a:gd name="connsiteX3" fmla="*/ 12178573 w 12192000"/>
              <a:gd name="connsiteY3" fmla="*/ 2273403 h 2406604"/>
              <a:gd name="connsiteX4" fmla="*/ 11531070 w 12192000"/>
              <a:gd name="connsiteY4" fmla="*/ 1745673 h 2406604"/>
              <a:gd name="connsiteX5" fmla="*/ 660932 w 12192000"/>
              <a:gd name="connsiteY5" fmla="*/ 1745673 h 2406604"/>
              <a:gd name="connsiteX6" fmla="*/ 1 w 12192000"/>
              <a:gd name="connsiteY6" fmla="*/ 2406604 h 2406604"/>
              <a:gd name="connsiteX7" fmla="*/ 0 w 12192000"/>
              <a:gd name="connsiteY7" fmla="*/ 0 h 240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406604">
                <a:moveTo>
                  <a:pt x="0" y="0"/>
                </a:moveTo>
                <a:lnTo>
                  <a:pt x="12192000" y="0"/>
                </a:lnTo>
                <a:lnTo>
                  <a:pt x="12192000" y="2406593"/>
                </a:lnTo>
                <a:lnTo>
                  <a:pt x="12178573" y="2273403"/>
                </a:lnTo>
                <a:cubicBezTo>
                  <a:pt x="12116944" y="1972228"/>
                  <a:pt x="11850464" y="1745673"/>
                  <a:pt x="11531070" y="1745673"/>
                </a:cubicBezTo>
                <a:lnTo>
                  <a:pt x="660932" y="1745673"/>
                </a:lnTo>
                <a:cubicBezTo>
                  <a:pt x="295910" y="1745673"/>
                  <a:pt x="1" y="2041582"/>
                  <a:pt x="1" y="2406604"/>
                </a:cubicBezTo>
                <a:cubicBezTo>
                  <a:pt x="1" y="1604403"/>
                  <a:pt x="0" y="802201"/>
                  <a:pt x="0" y="0"/>
                </a:cubicBez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7890F7A-92E8-0A77-B0F8-1CD3BBF80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818" y="264120"/>
            <a:ext cx="9095508" cy="1343007"/>
          </a:xfrm>
        </p:spPr>
        <p:txBody>
          <a:bodyPr anchor="ctr">
            <a:norm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2. 참고 논문 소개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3708BA-D82E-EB86-5FE5-7B4F9E13D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12/6/2025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69C32A-DB02-DAA9-0A1A-61215051B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818" y="2427558"/>
            <a:ext cx="10639689" cy="3751569"/>
          </a:xfrm>
        </p:spPr>
        <p:txBody>
          <a:bodyPr anchor="ctr">
            <a:normAutofit/>
          </a:bodyPr>
          <a:lstStyle/>
          <a:p>
            <a:pPr marL="285750" indent="-285750">
              <a:buFont typeface="Wingdings" panose="020B0604020202020204" pitchFamily="34" charset="0"/>
              <a:buChar char="§"/>
            </a:pPr>
            <a:r>
              <a:rPr lang="ko-KR" altLang="en-US" dirty="0"/>
              <a:t>참고 논문</a:t>
            </a:r>
            <a:endParaRPr lang="ko-KR" dirty="0"/>
          </a:p>
          <a:p>
            <a:pPr marL="0" indent="0">
              <a:buNone/>
            </a:pPr>
            <a:r>
              <a:rPr lang="ko-KR" altLang="en-US" dirty="0"/>
              <a:t>    - "</a:t>
            </a:r>
            <a:r>
              <a:rPr lang="ko-KR" altLang="en-US" dirty="0" err="1"/>
              <a:t>Human-level</a:t>
            </a:r>
            <a:r>
              <a:rPr lang="ko-KR" altLang="en-US" dirty="0"/>
              <a:t> </a:t>
            </a:r>
            <a:r>
              <a:rPr lang="ko-KR" altLang="en-US" dirty="0" err="1"/>
              <a:t>control</a:t>
            </a:r>
            <a:r>
              <a:rPr lang="ko-KR" altLang="en-US" dirty="0"/>
              <a:t> </a:t>
            </a:r>
            <a:r>
              <a:rPr lang="ko-KR" altLang="en-US" dirty="0" err="1"/>
              <a:t>through</a:t>
            </a:r>
            <a:r>
              <a:rPr lang="ko-KR" altLang="en-US" dirty="0"/>
              <a:t> </a:t>
            </a:r>
            <a:r>
              <a:rPr lang="ko-KR" altLang="en-US" dirty="0" err="1"/>
              <a:t>deep</a:t>
            </a:r>
            <a:r>
              <a:rPr lang="ko-KR" altLang="en-US" dirty="0"/>
              <a:t> </a:t>
            </a:r>
            <a:r>
              <a:rPr lang="ko-KR" altLang="en-US" dirty="0" err="1"/>
              <a:t>reinforcement</a:t>
            </a:r>
            <a:r>
              <a:rPr lang="ko-KR" altLang="en-US" dirty="0"/>
              <a:t> </a:t>
            </a:r>
            <a:r>
              <a:rPr lang="ko-KR" altLang="en-US" dirty="0" err="1"/>
              <a:t>learning</a:t>
            </a:r>
            <a:r>
              <a:rPr lang="ko-KR" altLang="en-US" dirty="0"/>
              <a:t>" , </a:t>
            </a:r>
            <a:r>
              <a:rPr lang="ko-KR" altLang="en-US" dirty="0" err="1"/>
              <a:t>Volodymyr</a:t>
            </a:r>
            <a:r>
              <a:rPr lang="ko-KR" altLang="en-US" dirty="0"/>
              <a:t> </a:t>
            </a:r>
            <a:r>
              <a:rPr lang="ko-KR" altLang="en-US" dirty="0" err="1"/>
              <a:t>Mnih</a:t>
            </a:r>
            <a:r>
              <a:rPr lang="ko-KR" altLang="en-US" dirty="0"/>
              <a:t>, </a:t>
            </a:r>
            <a:r>
              <a:rPr lang="ko-KR" altLang="en-US" dirty="0" err="1"/>
              <a:t>Nature</a:t>
            </a:r>
            <a:r>
              <a:rPr lang="ko-KR" altLang="en-US" dirty="0"/>
              <a:t>, 2015</a:t>
            </a:r>
          </a:p>
          <a:p>
            <a:pPr marL="285750" indent="-285750">
              <a:buFont typeface="Wingdings" panose="020B0604020202020204" pitchFamily="34" charset="0"/>
              <a:buChar char="§"/>
            </a:pPr>
            <a:r>
              <a:rPr lang="ko-KR" altLang="en-US" dirty="0"/>
              <a:t> 논문의 주요기여</a:t>
            </a:r>
          </a:p>
          <a:p>
            <a:pPr marL="0" indent="0">
              <a:buNone/>
            </a:pPr>
            <a:r>
              <a:rPr lang="ko-KR" altLang="en-US" dirty="0"/>
              <a:t>    - </a:t>
            </a:r>
            <a:r>
              <a:rPr lang="ko-KR" altLang="en-US" dirty="0" err="1"/>
              <a:t>Deep</a:t>
            </a:r>
            <a:r>
              <a:rPr lang="ko-KR" altLang="en-US" dirty="0"/>
              <a:t> </a:t>
            </a:r>
            <a:r>
              <a:rPr lang="ko-KR" altLang="en-US" dirty="0" err="1"/>
              <a:t>neural</a:t>
            </a:r>
            <a:r>
              <a:rPr lang="ko-KR" altLang="en-US" dirty="0"/>
              <a:t> </a:t>
            </a:r>
            <a:r>
              <a:rPr lang="ko-KR" altLang="en-US" dirty="0" err="1"/>
              <a:t>Network를</a:t>
            </a:r>
            <a:r>
              <a:rPr lang="ko-KR" altLang="en-US" dirty="0"/>
              <a:t> 이용하여 </a:t>
            </a:r>
            <a:r>
              <a:rPr lang="ko-KR" altLang="en-US" dirty="0" err="1"/>
              <a:t>Atari</a:t>
            </a:r>
            <a:r>
              <a:rPr lang="ko-KR" altLang="en-US" dirty="0"/>
              <a:t> 2600 게임에서 사람 수준 이상의 성능 달성</a:t>
            </a:r>
          </a:p>
          <a:p>
            <a:pPr marL="0" indent="0">
              <a:buNone/>
            </a:pPr>
            <a:r>
              <a:rPr lang="ko-KR" altLang="en-US" dirty="0"/>
              <a:t>    - </a:t>
            </a:r>
            <a:r>
              <a:rPr lang="ko-KR" altLang="en-US" dirty="0" err="1"/>
              <a:t>Q-learning과</a:t>
            </a:r>
            <a:r>
              <a:rPr lang="ko-KR" altLang="en-US" dirty="0"/>
              <a:t> </a:t>
            </a:r>
            <a:r>
              <a:rPr lang="ko-KR" altLang="en-US" dirty="0" err="1"/>
              <a:t>deep</a:t>
            </a:r>
            <a:r>
              <a:rPr lang="ko-KR" altLang="en-US" dirty="0"/>
              <a:t> </a:t>
            </a:r>
            <a:r>
              <a:rPr lang="ko-KR" altLang="en-US" dirty="0" err="1"/>
              <a:t>network를</a:t>
            </a:r>
            <a:r>
              <a:rPr lang="ko-KR" altLang="en-US" dirty="0"/>
              <a:t> 결합하기 위해 </a:t>
            </a:r>
            <a:r>
              <a:rPr lang="ko-KR" altLang="en-US" dirty="0" err="1"/>
              <a:t>Experience</a:t>
            </a:r>
            <a:r>
              <a:rPr lang="ko-KR" altLang="en-US" dirty="0"/>
              <a:t> </a:t>
            </a:r>
            <a:r>
              <a:rPr lang="ko-KR" altLang="en-US" dirty="0" err="1"/>
              <a:t>Replay와</a:t>
            </a:r>
            <a:r>
              <a:rPr lang="ko-KR" altLang="en-US" dirty="0"/>
              <a:t> Target </a:t>
            </a:r>
            <a:r>
              <a:rPr lang="ko-KR" altLang="en-US" dirty="0" err="1"/>
              <a:t>network</a:t>
            </a:r>
            <a:r>
              <a:rPr lang="ko-KR" altLang="en-US" dirty="0"/>
              <a:t> 도입</a:t>
            </a:r>
          </a:p>
          <a:p>
            <a:pPr marL="285750" indent="-285750">
              <a:buFont typeface="Wingdings" panose="020B0604020202020204" pitchFamily="34" charset="0"/>
              <a:buChar char="§"/>
            </a:pPr>
            <a:r>
              <a:rPr lang="ko-KR" altLang="en-US" dirty="0"/>
              <a:t>본 프로젝트에서의 재현 방향</a:t>
            </a:r>
          </a:p>
          <a:p>
            <a:pPr marL="0" indent="0">
              <a:buNone/>
            </a:pPr>
            <a:r>
              <a:rPr lang="ko-KR" altLang="en-US" dirty="0"/>
              <a:t>    - </a:t>
            </a:r>
            <a:r>
              <a:rPr lang="ko-KR" altLang="en-US" dirty="0" err="1"/>
              <a:t>Atari</a:t>
            </a:r>
            <a:r>
              <a:rPr lang="ko-KR" altLang="en-US" dirty="0"/>
              <a:t> 환경대신 CartPole-v1에서 DQN 적용</a:t>
            </a:r>
          </a:p>
          <a:p>
            <a:pPr marL="0" indent="0">
              <a:buNone/>
            </a:pPr>
            <a:r>
              <a:rPr lang="ko-KR" altLang="en-US" dirty="0"/>
              <a:t>    - 논문에서 제안한 구조를 반영하면서, 환경과 </a:t>
            </a:r>
            <a:r>
              <a:rPr lang="ko-KR" altLang="en-US" dirty="0" err="1"/>
              <a:t>하이퍼파라미터를</a:t>
            </a:r>
            <a:r>
              <a:rPr lang="ko-KR" altLang="en-US" dirty="0"/>
              <a:t> </a:t>
            </a:r>
            <a:r>
              <a:rPr lang="ko-KR" altLang="en-US" dirty="0" err="1"/>
              <a:t>Cartpole에</a:t>
            </a:r>
            <a:r>
              <a:rPr lang="ko-KR" altLang="en-US" dirty="0"/>
              <a:t> 맞게 구성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C35E8F-7E11-EAE7-FA20-EEC7CF7DC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7D3E15-0D6E-41C4-FBF7-1527784A3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051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8CA9E9D-6A76-A56D-C4DE-0910EA872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B7E5ED-F72A-DBA0-549D-BABA6DAC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40660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0 h 6858000"/>
              <a:gd name="connsiteX0" fmla="*/ 0 w 12192000"/>
              <a:gd name="connsiteY0" fmla="*/ 0 h 2406604"/>
              <a:gd name="connsiteX1" fmla="*/ 12192000 w 12192000"/>
              <a:gd name="connsiteY1" fmla="*/ 0 h 2406604"/>
              <a:gd name="connsiteX2" fmla="*/ 12192000 w 12192000"/>
              <a:gd name="connsiteY2" fmla="*/ 2406593 h 2406604"/>
              <a:gd name="connsiteX3" fmla="*/ 12178573 w 12192000"/>
              <a:gd name="connsiteY3" fmla="*/ 2273403 h 2406604"/>
              <a:gd name="connsiteX4" fmla="*/ 11531070 w 12192000"/>
              <a:gd name="connsiteY4" fmla="*/ 1745673 h 2406604"/>
              <a:gd name="connsiteX5" fmla="*/ 660932 w 12192000"/>
              <a:gd name="connsiteY5" fmla="*/ 1745673 h 2406604"/>
              <a:gd name="connsiteX6" fmla="*/ 1 w 12192000"/>
              <a:gd name="connsiteY6" fmla="*/ 2406604 h 2406604"/>
              <a:gd name="connsiteX7" fmla="*/ 0 w 12192000"/>
              <a:gd name="connsiteY7" fmla="*/ 0 h 240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406604">
                <a:moveTo>
                  <a:pt x="0" y="0"/>
                </a:moveTo>
                <a:lnTo>
                  <a:pt x="12192000" y="0"/>
                </a:lnTo>
                <a:lnTo>
                  <a:pt x="12192000" y="2406593"/>
                </a:lnTo>
                <a:lnTo>
                  <a:pt x="12178573" y="2273403"/>
                </a:lnTo>
                <a:cubicBezTo>
                  <a:pt x="12116944" y="1972228"/>
                  <a:pt x="11850464" y="1745673"/>
                  <a:pt x="11531070" y="1745673"/>
                </a:cubicBezTo>
                <a:lnTo>
                  <a:pt x="660932" y="1745673"/>
                </a:lnTo>
                <a:cubicBezTo>
                  <a:pt x="295910" y="1745673"/>
                  <a:pt x="1" y="2041582"/>
                  <a:pt x="1" y="2406604"/>
                </a:cubicBezTo>
                <a:cubicBezTo>
                  <a:pt x="1" y="1604403"/>
                  <a:pt x="0" y="802201"/>
                  <a:pt x="0" y="0"/>
                </a:cubicBez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D5D7584-59F5-E417-9C77-6F027823D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818" y="264120"/>
            <a:ext cx="9095508" cy="1343007"/>
          </a:xfrm>
        </p:spPr>
        <p:txBody>
          <a:bodyPr anchor="ctr">
            <a:norm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3. 강화학습 환경의 정의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51F9D5-E577-FB4A-3BA1-A9B1705F4C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12/6/2025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BDC0F8-D011-C379-E225-1DB5D1354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818" y="2079201"/>
            <a:ext cx="10877448" cy="4099926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285750" indent="-285750">
              <a:buFont typeface="Wingdings" panose="020B0604020202020204" pitchFamily="34" charset="0"/>
              <a:buChar char="§"/>
            </a:pPr>
            <a:r>
              <a:rPr lang="ko-KR" altLang="en-US" sz="1600" dirty="0"/>
              <a:t>Cartpole-v1의 환경 및 MDP 정의</a:t>
            </a:r>
          </a:p>
          <a:p>
            <a:pPr marL="285750" indent="-285750">
              <a:buFont typeface="Wingdings" panose="020B0604020202020204" pitchFamily="34" charset="0"/>
              <a:buChar char="§"/>
            </a:pPr>
            <a:r>
              <a:rPr lang="ko-KR" altLang="en-US" sz="1600" dirty="0"/>
              <a:t>내용</a:t>
            </a:r>
          </a:p>
          <a:p>
            <a:pPr marL="0" indent="0">
              <a:buNone/>
            </a:pPr>
            <a:r>
              <a:rPr lang="ko-KR" altLang="en-US" dirty="0"/>
              <a:t>   </a:t>
            </a:r>
            <a:r>
              <a:rPr lang="ko-KR" altLang="en-US" sz="1600" dirty="0"/>
              <a:t> - 환경(</a:t>
            </a:r>
            <a:r>
              <a:rPr lang="ko-KR" altLang="en-US" sz="1600" err="1"/>
              <a:t>Environment</a:t>
            </a:r>
            <a:r>
              <a:rPr lang="ko-KR" altLang="en-US" sz="1600" dirty="0"/>
              <a:t>) : </a:t>
            </a:r>
            <a:r>
              <a:rPr lang="ko-KR" altLang="en-US" sz="1600" err="1"/>
              <a:t>Gymnasium</a:t>
            </a:r>
            <a:r>
              <a:rPr lang="ko-KR" altLang="en-US" sz="1600" dirty="0"/>
              <a:t> Cartpole-v1</a:t>
            </a:r>
          </a:p>
          <a:p>
            <a:pPr marL="0" indent="0">
              <a:buNone/>
            </a:pPr>
            <a:r>
              <a:rPr lang="ko-KR" altLang="en-US" sz="1600" dirty="0"/>
              <a:t>    - 상태(State,4차원 변수)</a:t>
            </a:r>
          </a:p>
          <a:p>
            <a:pPr marL="0" indent="0">
              <a:buNone/>
            </a:pPr>
            <a:r>
              <a:rPr lang="ko-KR" altLang="en-US" sz="1600" dirty="0"/>
              <a:t>        1) </a:t>
            </a:r>
            <a:r>
              <a:rPr lang="ko-KR" altLang="en-US" sz="1600" dirty="0" err="1"/>
              <a:t>카트위치</a:t>
            </a:r>
            <a:r>
              <a:rPr lang="ko-KR" altLang="en-US" sz="1600" dirty="0"/>
              <a:t> </a:t>
            </a:r>
            <a:r>
              <a:rPr lang="ko-KR" altLang="en-US" sz="1600" dirty="0" err="1"/>
              <a:t>x</a:t>
            </a:r>
            <a:r>
              <a:rPr lang="ko-KR" altLang="en-US" sz="1600" dirty="0"/>
              <a:t>  2) </a:t>
            </a:r>
            <a:r>
              <a:rPr lang="ko-KR" altLang="en-US" sz="1600" dirty="0" err="1"/>
              <a:t>카트속도</a:t>
            </a:r>
            <a:r>
              <a:rPr lang="ko-KR" altLang="en-US" sz="1600" dirty="0"/>
              <a:t> </a:t>
            </a:r>
            <a:r>
              <a:rPr lang="ko-KR" altLang="en-US" sz="1600" dirty="0" err="1"/>
              <a:t>y</a:t>
            </a:r>
            <a:r>
              <a:rPr lang="ko-KR" altLang="en-US" sz="1600" dirty="0"/>
              <a:t>  3) 막대각도  </a:t>
            </a:r>
            <a:r>
              <a:rPr lang="ko-KR" altLang="en-US" sz="1600" dirty="0" err="1"/>
              <a:t>θ</a:t>
            </a:r>
            <a:r>
              <a:rPr lang="ko-KR" altLang="en-US" sz="1600" dirty="0"/>
              <a:t> 4) </a:t>
            </a:r>
            <a:r>
              <a:rPr lang="ko-KR" altLang="en-US" sz="1600" dirty="0" err="1"/>
              <a:t>막대각속도</a:t>
            </a:r>
            <a:r>
              <a:rPr lang="ko-KR" altLang="en-US" sz="1600" dirty="0"/>
              <a:t> </a:t>
            </a:r>
            <a:r>
              <a:rPr lang="ko-KR" sz="1600">
                <a:latin typeface="Segoe UI"/>
                <a:cs typeface="Segoe UI"/>
              </a:rPr>
              <a:t>θ</a:t>
            </a:r>
            <a:r>
              <a:rPr lang="ko-KR" altLang="en-US" sz="1600">
                <a:latin typeface="Segoe UI"/>
                <a:cs typeface="Segoe UI"/>
              </a:rPr>
              <a:t>˙</a:t>
            </a:r>
            <a:endParaRPr lang="ko-KR" altLang="en-US" sz="1600" dirty="0"/>
          </a:p>
          <a:p>
            <a:pPr marL="0" indent="0">
              <a:buNone/>
            </a:pPr>
            <a:r>
              <a:rPr lang="ko-KR" altLang="en-US" sz="1600" dirty="0"/>
              <a:t>    - 행동(</a:t>
            </a:r>
            <a:r>
              <a:rPr lang="ko-KR" altLang="en-US" sz="1600" err="1"/>
              <a:t>Action</a:t>
            </a:r>
            <a:r>
              <a:rPr lang="ko-KR" altLang="en-US" sz="1600" dirty="0"/>
              <a:t>)</a:t>
            </a:r>
          </a:p>
          <a:p>
            <a:pPr marL="0" indent="0">
              <a:buNone/>
            </a:pPr>
            <a:r>
              <a:rPr lang="ko-KR" altLang="en-US" sz="1600" dirty="0"/>
              <a:t>        1) 0 : 카트를 왼쪽으로 밀기 2) 1 :  카트를 오른쪽으로 밀기</a:t>
            </a:r>
          </a:p>
          <a:p>
            <a:pPr marL="0" indent="0">
              <a:buNone/>
            </a:pPr>
            <a:r>
              <a:rPr lang="ko-KR" altLang="en-US" sz="1600" dirty="0"/>
              <a:t>    - 보상(</a:t>
            </a:r>
            <a:r>
              <a:rPr lang="ko-KR" altLang="en-US" sz="1600" err="1"/>
              <a:t>Reward</a:t>
            </a:r>
            <a:r>
              <a:rPr lang="ko-KR" altLang="en-US" sz="1600" dirty="0"/>
              <a:t>)</a:t>
            </a:r>
          </a:p>
          <a:p>
            <a:pPr marL="0" indent="0">
              <a:buNone/>
            </a:pPr>
            <a:r>
              <a:rPr lang="ko-KR" altLang="en-US" sz="1600" dirty="0"/>
              <a:t>        1) </a:t>
            </a:r>
            <a:r>
              <a:rPr lang="ko-KR" altLang="en-US" sz="1600" err="1"/>
              <a:t>매타임</a:t>
            </a:r>
            <a:r>
              <a:rPr lang="ko-KR" altLang="en-US" sz="1600" dirty="0"/>
              <a:t> 스텝마다 +1 / 막대를 오래 세울수록 총 보상이 커짐</a:t>
            </a:r>
          </a:p>
          <a:p>
            <a:pPr marL="0" indent="0">
              <a:buNone/>
            </a:pPr>
            <a:r>
              <a:rPr lang="ko-KR" altLang="en-US" sz="1600" dirty="0"/>
              <a:t>    - 종료 조건</a:t>
            </a:r>
          </a:p>
          <a:p>
            <a:pPr marL="0" indent="0">
              <a:buNone/>
            </a:pPr>
            <a:r>
              <a:rPr lang="ko-KR" altLang="en-US" sz="1600" dirty="0"/>
              <a:t>     1) 막대각도가 </a:t>
            </a:r>
            <a:r>
              <a:rPr lang="ko-KR" altLang="en-US" sz="1600" err="1"/>
              <a:t>임계값을</a:t>
            </a:r>
            <a:r>
              <a:rPr lang="ko-KR" altLang="en-US" sz="1600" dirty="0"/>
              <a:t> 벗어나는 경우 2) 카트 위치가 화면 범위를 벗어나는 경우 3) 환경에서 정의한 최대 타임 </a:t>
            </a:r>
            <a:r>
              <a:rPr lang="ko-KR" altLang="en-US" sz="1600" err="1"/>
              <a:t>스텝수</a:t>
            </a:r>
            <a:r>
              <a:rPr lang="ko-KR" altLang="en-US" sz="1600" dirty="0"/>
              <a:t> 도달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1F6021-FDF8-63B0-668A-E7B80ECDA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5FC75F-D9E5-6C7E-7EB6-C29B911F5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62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8CA9E9D-6A76-A56D-C4DE-0910EA872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B7E5ED-F72A-DBA0-549D-BABA6DAC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40660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0 h 6858000"/>
              <a:gd name="connsiteX0" fmla="*/ 0 w 12192000"/>
              <a:gd name="connsiteY0" fmla="*/ 0 h 2406604"/>
              <a:gd name="connsiteX1" fmla="*/ 12192000 w 12192000"/>
              <a:gd name="connsiteY1" fmla="*/ 0 h 2406604"/>
              <a:gd name="connsiteX2" fmla="*/ 12192000 w 12192000"/>
              <a:gd name="connsiteY2" fmla="*/ 2406593 h 2406604"/>
              <a:gd name="connsiteX3" fmla="*/ 12178573 w 12192000"/>
              <a:gd name="connsiteY3" fmla="*/ 2273403 h 2406604"/>
              <a:gd name="connsiteX4" fmla="*/ 11531070 w 12192000"/>
              <a:gd name="connsiteY4" fmla="*/ 1745673 h 2406604"/>
              <a:gd name="connsiteX5" fmla="*/ 660932 w 12192000"/>
              <a:gd name="connsiteY5" fmla="*/ 1745673 h 2406604"/>
              <a:gd name="connsiteX6" fmla="*/ 1 w 12192000"/>
              <a:gd name="connsiteY6" fmla="*/ 2406604 h 2406604"/>
              <a:gd name="connsiteX7" fmla="*/ 0 w 12192000"/>
              <a:gd name="connsiteY7" fmla="*/ 0 h 240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406604">
                <a:moveTo>
                  <a:pt x="0" y="0"/>
                </a:moveTo>
                <a:lnTo>
                  <a:pt x="12192000" y="0"/>
                </a:lnTo>
                <a:lnTo>
                  <a:pt x="12192000" y="2406593"/>
                </a:lnTo>
                <a:lnTo>
                  <a:pt x="12178573" y="2273403"/>
                </a:lnTo>
                <a:cubicBezTo>
                  <a:pt x="12116944" y="1972228"/>
                  <a:pt x="11850464" y="1745673"/>
                  <a:pt x="11531070" y="1745673"/>
                </a:cubicBezTo>
                <a:lnTo>
                  <a:pt x="660932" y="1745673"/>
                </a:lnTo>
                <a:cubicBezTo>
                  <a:pt x="295910" y="1745673"/>
                  <a:pt x="1" y="2041582"/>
                  <a:pt x="1" y="2406604"/>
                </a:cubicBezTo>
                <a:cubicBezTo>
                  <a:pt x="1" y="1604403"/>
                  <a:pt x="0" y="802201"/>
                  <a:pt x="0" y="0"/>
                </a:cubicBez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56F6C5B-3ED8-E47E-BDD9-78F690315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818" y="264120"/>
            <a:ext cx="9095508" cy="1343007"/>
          </a:xfrm>
        </p:spPr>
        <p:txBody>
          <a:bodyPr anchor="ctr">
            <a:norm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4. DQN 알고리즘 개요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8928A1-DC88-39B3-39E0-3EB1AA38AD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12/6/2025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3A40EC-E7EF-A7F8-953C-731CDADF3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818" y="2415378"/>
            <a:ext cx="11101566" cy="3763749"/>
          </a:xfrm>
        </p:spPr>
        <p:txBody>
          <a:bodyPr anchor="ctr">
            <a:normAutofit fontScale="92500" lnSpcReduction="20000"/>
          </a:bodyPr>
          <a:lstStyle/>
          <a:p>
            <a:pPr marL="285750" indent="-285750">
              <a:buFont typeface="Wingdings" panose="020B0604020202020204" pitchFamily="34" charset="0"/>
              <a:buChar char="§"/>
            </a:pPr>
            <a:r>
              <a:rPr lang="ko-KR" altLang="en-US" dirty="0" err="1">
                <a:latin typeface="Malgun Gothic"/>
                <a:ea typeface="Malgun Gothic"/>
              </a:rPr>
              <a:t>Deep</a:t>
            </a:r>
            <a:r>
              <a:rPr lang="ko-KR" altLang="en-US" dirty="0">
                <a:latin typeface="Malgun Gothic"/>
                <a:ea typeface="Malgun Gothic"/>
              </a:rPr>
              <a:t> </a:t>
            </a:r>
            <a:r>
              <a:rPr lang="ko-KR" altLang="en-US" dirty="0" err="1">
                <a:latin typeface="Malgun Gothic"/>
                <a:ea typeface="Malgun Gothic"/>
              </a:rPr>
              <a:t>Q</a:t>
            </a:r>
            <a:r>
              <a:rPr lang="ko-KR" altLang="en-US" dirty="0">
                <a:latin typeface="Malgun Gothic"/>
                <a:ea typeface="Malgun Gothic"/>
              </a:rPr>
              <a:t>-Network 알고리즘</a:t>
            </a:r>
          </a:p>
          <a:p>
            <a:pPr marL="285750" indent="-285750">
              <a:buFont typeface="Wingdings" panose="020B0604020202020204" pitchFamily="34" charset="0"/>
              <a:buChar char="§"/>
            </a:pPr>
            <a:r>
              <a:rPr lang="ko-KR" altLang="en-US" dirty="0">
                <a:latin typeface="Malgun Gothic"/>
                <a:ea typeface="Malgun Gothic"/>
              </a:rPr>
              <a:t>목표 : 최적 </a:t>
            </a:r>
            <a:r>
              <a:rPr lang="ko-KR" altLang="en-US" dirty="0" err="1">
                <a:latin typeface="Malgun Gothic"/>
                <a:ea typeface="Malgun Gothic"/>
              </a:rPr>
              <a:t>Q함수</a:t>
            </a:r>
            <a:r>
              <a:rPr lang="ko-KR" altLang="en-US" dirty="0">
                <a:latin typeface="Malgun Gothic"/>
                <a:ea typeface="Malgun Gothic"/>
              </a:rPr>
              <a:t> </a:t>
            </a:r>
            <a:r>
              <a:rPr lang="ko-KR" altLang="en-US" dirty="0" err="1">
                <a:latin typeface="Malgun Gothic"/>
                <a:ea typeface="Malgun Gothic"/>
              </a:rPr>
              <a:t>Q</a:t>
            </a:r>
            <a:r>
              <a:rPr lang="ko-KR" altLang="en-US" dirty="0">
                <a:latin typeface="Malgun Gothic"/>
                <a:ea typeface="Malgun Gothic"/>
              </a:rPr>
              <a:t>*(</a:t>
            </a:r>
            <a:r>
              <a:rPr lang="ko-KR" altLang="en-US" dirty="0" err="1">
                <a:latin typeface="Malgun Gothic"/>
                <a:ea typeface="Malgun Gothic"/>
              </a:rPr>
              <a:t>s,a</a:t>
            </a:r>
            <a:r>
              <a:rPr lang="ko-KR" altLang="en-US" dirty="0">
                <a:latin typeface="Malgun Gothic"/>
                <a:ea typeface="Malgun Gothic"/>
              </a:rPr>
              <a:t>) 근사.</a:t>
            </a:r>
          </a:p>
          <a:p>
            <a:pPr marL="285750" indent="-285750">
              <a:buFont typeface="Wingdings" panose="020B0604020202020204" pitchFamily="34" charset="0"/>
              <a:buChar char="§"/>
            </a:pPr>
            <a:r>
              <a:rPr lang="ko-KR" altLang="en-US" dirty="0" err="1">
                <a:latin typeface="Malgun Gothic"/>
                <a:ea typeface="Malgun Gothic"/>
              </a:rPr>
              <a:t>Q-learning</a:t>
            </a:r>
            <a:r>
              <a:rPr lang="ko-KR" altLang="en-US" dirty="0">
                <a:latin typeface="Malgun Gothic"/>
                <a:ea typeface="Malgun Gothic"/>
              </a:rPr>
              <a:t> 업데이트 식</a:t>
            </a:r>
          </a:p>
          <a:p>
            <a:pPr marL="0" indent="0">
              <a:buNone/>
            </a:pPr>
            <a:r>
              <a:rPr lang="ko-KR" altLang="en-US" dirty="0">
                <a:latin typeface="Malgun Gothic"/>
                <a:ea typeface="Malgun Gothic"/>
              </a:rPr>
              <a:t>    - 타겟 :  </a:t>
            </a:r>
            <a:r>
              <a:rPr lang="ko-KR" altLang="en-US" err="1">
                <a:latin typeface="Malgun Gothic"/>
                <a:ea typeface="Malgun Gothic"/>
              </a:rPr>
              <a:t>y</a:t>
            </a:r>
            <a:r>
              <a:rPr lang="ko-KR" altLang="en-US" dirty="0">
                <a:latin typeface="Malgun Gothic"/>
                <a:ea typeface="Malgun Gothic"/>
              </a:rPr>
              <a:t> =</a:t>
            </a:r>
            <a:r>
              <a:rPr lang="ko-KR" altLang="en-US" err="1">
                <a:latin typeface="Malgun Gothic"/>
                <a:ea typeface="Malgun Gothic"/>
              </a:rPr>
              <a:t>r+γmaxQ</a:t>
            </a:r>
            <a:r>
              <a:rPr lang="ko-KR" altLang="en-US" dirty="0">
                <a:latin typeface="Malgun Gothic"/>
                <a:ea typeface="Malgun Gothic"/>
              </a:rPr>
              <a:t>(</a:t>
            </a:r>
            <a:r>
              <a:rPr lang="ko-KR" altLang="en-US" err="1">
                <a:latin typeface="Malgun Gothic"/>
                <a:ea typeface="Malgun Gothic"/>
              </a:rPr>
              <a:t>s</a:t>
            </a:r>
            <a:r>
              <a:rPr lang="ko-KR" altLang="en-US" dirty="0">
                <a:latin typeface="Malgun Gothic"/>
                <a:ea typeface="Malgun Gothic"/>
              </a:rPr>
              <a:t>', </a:t>
            </a:r>
            <a:r>
              <a:rPr lang="ko-KR" altLang="en-US" err="1">
                <a:latin typeface="Malgun Gothic"/>
                <a:ea typeface="Malgun Gothic"/>
              </a:rPr>
              <a:t>a</a:t>
            </a:r>
            <a:r>
              <a:rPr lang="ko-KR" altLang="en-US" dirty="0">
                <a:latin typeface="Malgun Gothic"/>
                <a:ea typeface="Malgun Gothic"/>
              </a:rPr>
              <a:t>';</a:t>
            </a:r>
            <a:r>
              <a:rPr lang="ko-KR" altLang="en-US" sz="1400" dirty="0">
                <a:latin typeface="Malgun Gothic"/>
                <a:ea typeface="Malgun Gothic"/>
              </a:rPr>
              <a:t> </a:t>
            </a:r>
            <a:r>
              <a:rPr lang="ko-KR" sz="1400">
                <a:latin typeface="Malgun Gothic"/>
                <a:ea typeface="Malgun Gothic"/>
                <a:cs typeface="Segoe UI"/>
              </a:rPr>
              <a:t>θ−</a:t>
            </a:r>
            <a:r>
              <a:rPr lang="en-US" altLang="ko-KR" sz="1400">
                <a:latin typeface="Malgun Gothic"/>
                <a:ea typeface="Malgun Gothic"/>
                <a:cs typeface="Segoe UI"/>
              </a:rPr>
              <a:t>)</a:t>
            </a:r>
            <a:endParaRPr lang="ko-KR" altLang="en-US" sz="1400">
              <a:latin typeface="Malgun Gothic"/>
              <a:ea typeface="Malgun Gothic"/>
              <a:cs typeface="Segoe UI"/>
            </a:endParaRPr>
          </a:p>
          <a:p>
            <a:pPr marL="0" indent="0">
              <a:buNone/>
            </a:pPr>
            <a:r>
              <a:rPr lang="ko-KR" altLang="en-US" dirty="0">
                <a:latin typeface="Malgun Gothic"/>
                <a:ea typeface="Malgun Gothic"/>
              </a:rPr>
              <a:t>    - 손실 함수 : </a:t>
            </a:r>
            <a:r>
              <a:rPr lang="ko-KR" altLang="en-US" dirty="0" err="1">
                <a:latin typeface="Malgun Gothic"/>
                <a:ea typeface="Malgun Gothic"/>
              </a:rPr>
              <a:t>L</a:t>
            </a:r>
            <a:r>
              <a:rPr lang="ko-KR" altLang="en-US" dirty="0">
                <a:latin typeface="Malgun Gothic"/>
                <a:ea typeface="Malgun Gothic"/>
              </a:rPr>
              <a:t>(</a:t>
            </a:r>
            <a:r>
              <a:rPr lang="ko-KR" sz="1400" dirty="0" err="1">
                <a:latin typeface="Malgun Gothic"/>
                <a:ea typeface="Malgun Gothic"/>
                <a:cs typeface="Segoe UI"/>
              </a:rPr>
              <a:t>θ</a:t>
            </a:r>
            <a:r>
              <a:rPr lang="ko-KR" altLang="en-US" dirty="0">
                <a:latin typeface="Malgun Gothic"/>
                <a:ea typeface="Malgun Gothic"/>
              </a:rPr>
              <a:t>) = </a:t>
            </a:r>
            <a:r>
              <a:rPr lang="ko-KR" altLang="en-US" dirty="0" err="1">
                <a:latin typeface="Malgun Gothic"/>
                <a:ea typeface="Malgun Gothic"/>
              </a:rPr>
              <a:t>E</a:t>
            </a:r>
            <a:r>
              <a:rPr lang="ko-KR" altLang="en-US" dirty="0">
                <a:latin typeface="Malgun Gothic"/>
                <a:ea typeface="Malgun Gothic"/>
              </a:rPr>
              <a:t>[(</a:t>
            </a:r>
            <a:r>
              <a:rPr lang="ko-KR" altLang="en-US" dirty="0" err="1">
                <a:latin typeface="Malgun Gothic"/>
                <a:ea typeface="Malgun Gothic"/>
              </a:rPr>
              <a:t>y</a:t>
            </a:r>
            <a:r>
              <a:rPr lang="ko-KR" altLang="en-US" dirty="0">
                <a:latin typeface="Malgun Gothic"/>
                <a:ea typeface="Malgun Gothic"/>
              </a:rPr>
              <a:t>– </a:t>
            </a:r>
            <a:r>
              <a:rPr lang="ko-KR" altLang="en-US" dirty="0" err="1">
                <a:latin typeface="Malgun Gothic"/>
                <a:ea typeface="Malgun Gothic"/>
              </a:rPr>
              <a:t>Q</a:t>
            </a:r>
            <a:r>
              <a:rPr lang="ko-KR" altLang="en-US" sz="1400" dirty="0">
                <a:latin typeface="Malgun Gothic"/>
                <a:ea typeface="Malgun Gothic"/>
              </a:rPr>
              <a:t>(</a:t>
            </a:r>
            <a:r>
              <a:rPr lang="ko-KR" altLang="en-US" sz="1400" dirty="0" err="1">
                <a:latin typeface="Malgun Gothic"/>
                <a:ea typeface="Malgun Gothic"/>
              </a:rPr>
              <a:t>s,a;</a:t>
            </a:r>
            <a:r>
              <a:rPr lang="ko-KR" sz="1400" dirty="0" err="1">
                <a:latin typeface="Malgun Gothic"/>
                <a:ea typeface="Malgun Gothic"/>
                <a:cs typeface="Segoe UI"/>
              </a:rPr>
              <a:t>θ</a:t>
            </a:r>
            <a:r>
              <a:rPr lang="ko-KR" altLang="en-US" dirty="0">
                <a:latin typeface="Malgun Gothic"/>
                <a:ea typeface="Malgun Gothic"/>
              </a:rPr>
              <a:t>))</a:t>
            </a:r>
            <a:r>
              <a:rPr lang="ko-KR" altLang="en-US" baseline="30000" dirty="0">
                <a:latin typeface="Malgun Gothic"/>
                <a:ea typeface="Malgun Gothic"/>
              </a:rPr>
              <a:t>2</a:t>
            </a:r>
            <a:r>
              <a:rPr lang="ko-KR" altLang="en-US" dirty="0">
                <a:latin typeface="Malgun Gothic"/>
                <a:ea typeface="Malgun Gothic"/>
              </a:rPr>
              <a:t>]</a:t>
            </a:r>
            <a:endParaRPr lang="ko-KR">
              <a:latin typeface="Malgun Gothic"/>
              <a:ea typeface="Malgun Gothic"/>
            </a:endParaRPr>
          </a:p>
          <a:p>
            <a:pPr marL="285750" indent="-285750">
              <a:buFont typeface="Wingdings" panose="020B0604020202020204" pitchFamily="34" charset="0"/>
              <a:buChar char="§"/>
            </a:pPr>
            <a:r>
              <a:rPr lang="ko-KR" altLang="en-US" dirty="0" err="1">
                <a:latin typeface="Malgun Gothic"/>
                <a:ea typeface="Malgun Gothic"/>
              </a:rPr>
              <a:t>DQN의</a:t>
            </a:r>
            <a:r>
              <a:rPr lang="ko-KR" altLang="en-US" dirty="0">
                <a:latin typeface="Malgun Gothic"/>
                <a:ea typeface="Malgun Gothic"/>
              </a:rPr>
              <a:t> 핵심구성 요소</a:t>
            </a:r>
          </a:p>
          <a:p>
            <a:pPr marL="0" indent="0">
              <a:buNone/>
            </a:pPr>
            <a:r>
              <a:rPr lang="ko-KR" altLang="en-US" dirty="0">
                <a:latin typeface="Malgun Gothic"/>
                <a:ea typeface="Malgun Gothic"/>
              </a:rPr>
              <a:t>    - </a:t>
            </a:r>
            <a:r>
              <a:rPr lang="ko-KR" altLang="en-US" dirty="0" err="1">
                <a:latin typeface="Malgun Gothic"/>
                <a:ea typeface="Malgun Gothic"/>
              </a:rPr>
              <a:t>Q-network</a:t>
            </a:r>
            <a:r>
              <a:rPr lang="ko-KR" altLang="en-US" dirty="0">
                <a:latin typeface="Malgun Gothic"/>
                <a:ea typeface="Malgun Gothic"/>
              </a:rPr>
              <a:t> </a:t>
            </a:r>
            <a:r>
              <a:rPr lang="ko-KR" altLang="en-US" dirty="0" err="1">
                <a:latin typeface="Malgun Gothic"/>
                <a:ea typeface="Malgun Gothic"/>
              </a:rPr>
              <a:t>Q</a:t>
            </a:r>
            <a:r>
              <a:rPr lang="ko-KR" altLang="en-US" dirty="0">
                <a:latin typeface="Malgun Gothic"/>
                <a:ea typeface="Malgun Gothic"/>
              </a:rPr>
              <a:t>(</a:t>
            </a:r>
            <a:r>
              <a:rPr lang="ko-KR" altLang="en-US" dirty="0" err="1">
                <a:latin typeface="Malgun Gothic"/>
                <a:ea typeface="Malgun Gothic"/>
              </a:rPr>
              <a:t>s,a,</a:t>
            </a:r>
            <a:r>
              <a:rPr lang="ko-KR" sz="1400" dirty="0" err="1">
                <a:latin typeface="Malgun Gothic"/>
                <a:ea typeface="Malgun Gothic"/>
                <a:cs typeface="Segoe UI"/>
              </a:rPr>
              <a:t>θ</a:t>
            </a:r>
            <a:r>
              <a:rPr lang="ko-KR" altLang="en-US" dirty="0">
                <a:latin typeface="Malgun Gothic"/>
                <a:ea typeface="Malgun Gothic"/>
              </a:rPr>
              <a:t>): 상태를 입력, 행동별 </a:t>
            </a:r>
            <a:r>
              <a:rPr lang="ko-KR" altLang="en-US" dirty="0" err="1">
                <a:latin typeface="Malgun Gothic"/>
                <a:ea typeface="Malgun Gothic"/>
              </a:rPr>
              <a:t>Q값을</a:t>
            </a:r>
            <a:r>
              <a:rPr lang="ko-KR" altLang="en-US" dirty="0">
                <a:latin typeface="Malgun Gothic"/>
                <a:ea typeface="Malgun Gothic"/>
              </a:rPr>
              <a:t> 출력하는 신경망</a:t>
            </a:r>
          </a:p>
          <a:p>
            <a:pPr marL="0" indent="0">
              <a:buNone/>
            </a:pPr>
            <a:r>
              <a:rPr lang="ko-KR" altLang="en-US" dirty="0">
                <a:latin typeface="Malgun Gothic"/>
                <a:ea typeface="Malgun Gothic"/>
              </a:rPr>
              <a:t>    - </a:t>
            </a:r>
            <a:r>
              <a:rPr lang="ko-KR" altLang="en-US" dirty="0" err="1">
                <a:latin typeface="Malgun Gothic"/>
                <a:ea typeface="Malgun Gothic"/>
              </a:rPr>
              <a:t>Experience</a:t>
            </a:r>
            <a:r>
              <a:rPr lang="ko-KR" altLang="en-US" dirty="0">
                <a:latin typeface="Malgun Gothic"/>
                <a:ea typeface="Malgun Gothic"/>
              </a:rPr>
              <a:t> </a:t>
            </a:r>
            <a:r>
              <a:rPr lang="ko-KR" altLang="en-US" dirty="0" err="1">
                <a:latin typeface="Malgun Gothic"/>
                <a:ea typeface="Malgun Gothic"/>
              </a:rPr>
              <a:t>Replay</a:t>
            </a:r>
            <a:r>
              <a:rPr lang="ko-KR" altLang="en-US" dirty="0">
                <a:latin typeface="Malgun Gothic"/>
                <a:ea typeface="Malgun Gothic"/>
              </a:rPr>
              <a:t> : </a:t>
            </a:r>
            <a:r>
              <a:rPr lang="ko-KR" altLang="en-US" dirty="0" err="1">
                <a:latin typeface="Malgun Gothic"/>
                <a:ea typeface="Malgun Gothic"/>
              </a:rPr>
              <a:t>transition</a:t>
            </a:r>
            <a:r>
              <a:rPr lang="ko-KR" altLang="en-US" dirty="0">
                <a:latin typeface="Malgun Gothic"/>
                <a:ea typeface="Malgun Gothic"/>
              </a:rPr>
              <a:t>(</a:t>
            </a:r>
            <a:r>
              <a:rPr lang="ko-KR" altLang="en-US" dirty="0" err="1">
                <a:latin typeface="Malgun Gothic"/>
                <a:ea typeface="Malgun Gothic"/>
              </a:rPr>
              <a:t>s,a,r,s</a:t>
            </a:r>
            <a:r>
              <a:rPr lang="ko-KR" altLang="en-US" dirty="0">
                <a:latin typeface="Malgun Gothic"/>
                <a:ea typeface="Malgun Gothic"/>
              </a:rPr>
              <a:t>') </a:t>
            </a:r>
            <a:r>
              <a:rPr lang="ko-KR" altLang="en-US" dirty="0" err="1">
                <a:latin typeface="Malgun Gothic"/>
                <a:ea typeface="Malgun Gothic"/>
              </a:rPr>
              <a:t>를</a:t>
            </a:r>
            <a:r>
              <a:rPr lang="ko-KR" altLang="en-US" dirty="0">
                <a:latin typeface="Malgun Gothic"/>
                <a:ea typeface="Malgun Gothic"/>
              </a:rPr>
              <a:t> 버퍼에 저장/미니배치 단위로 랜덤 샘플링 진행</a:t>
            </a:r>
          </a:p>
          <a:p>
            <a:pPr marL="0" indent="0">
              <a:buNone/>
            </a:pPr>
            <a:r>
              <a:rPr lang="ko-KR" altLang="en-US" dirty="0">
                <a:latin typeface="Malgun Gothic"/>
                <a:ea typeface="Malgun Gothic"/>
              </a:rPr>
              <a:t>    - Target Network </a:t>
            </a:r>
            <a:r>
              <a:rPr lang="ko-KR" altLang="en-US" err="1">
                <a:latin typeface="Malgun Gothic"/>
                <a:ea typeface="Malgun Gothic"/>
              </a:rPr>
              <a:t>Q</a:t>
            </a:r>
            <a:r>
              <a:rPr lang="ko-KR" altLang="en-US" dirty="0">
                <a:latin typeface="Malgun Gothic"/>
                <a:ea typeface="Malgun Gothic"/>
              </a:rPr>
              <a:t>(</a:t>
            </a:r>
            <a:r>
              <a:rPr lang="ko-KR" altLang="en-US" err="1">
                <a:latin typeface="Malgun Gothic"/>
                <a:ea typeface="Malgun Gothic"/>
              </a:rPr>
              <a:t>s,a</a:t>
            </a:r>
            <a:r>
              <a:rPr lang="ko-KR" altLang="en-US" dirty="0">
                <a:latin typeface="Malgun Gothic"/>
                <a:ea typeface="Malgun Gothic"/>
              </a:rPr>
              <a:t>; </a:t>
            </a:r>
            <a:r>
              <a:rPr lang="ko-KR" altLang="en-US" err="1">
                <a:latin typeface="Malgun Gothic"/>
                <a:ea typeface="Malgun Gothic"/>
              </a:rPr>
              <a:t>z</a:t>
            </a:r>
            <a:r>
              <a:rPr lang="ko-KR" altLang="en-US" dirty="0">
                <a:latin typeface="Malgun Gothic"/>
                <a:ea typeface="Malgun Gothic"/>
              </a:rPr>
              <a:t>-) : 타겟 계산에 사용하는 별도의 네트워크/일정 </a:t>
            </a:r>
            <a:r>
              <a:rPr lang="ko-KR" altLang="en-US" err="1">
                <a:latin typeface="Malgun Gothic"/>
                <a:ea typeface="Malgun Gothic"/>
              </a:rPr>
              <a:t>스텝마다</a:t>
            </a:r>
            <a:r>
              <a:rPr lang="ko-KR" sz="1400" err="1">
                <a:latin typeface="Malgun Gothic"/>
                <a:ea typeface="Malgun Gothic"/>
                <a:cs typeface="Segoe UI"/>
              </a:rPr>
              <a:t>θ</a:t>
            </a:r>
            <a:r>
              <a:rPr lang="ko-KR" sz="1400" dirty="0">
                <a:latin typeface="Malgun Gothic"/>
                <a:ea typeface="Malgun Gothic"/>
                <a:cs typeface="Segoe UI"/>
              </a:rPr>
              <a:t>−</a:t>
            </a:r>
            <a:r>
              <a:rPr lang="ko-KR" altLang="en-US" dirty="0">
                <a:latin typeface="Malgun Gothic"/>
                <a:ea typeface="Malgun Gothic"/>
              </a:rPr>
              <a:t>&lt;-</a:t>
            </a:r>
            <a:r>
              <a:rPr lang="ko-KR" sz="1400" err="1">
                <a:latin typeface="Malgun Gothic"/>
                <a:ea typeface="Malgun Gothic"/>
                <a:cs typeface="Segoe UI"/>
              </a:rPr>
              <a:t>θ</a:t>
            </a:r>
            <a:r>
              <a:rPr lang="ko-KR" altLang="en-US" err="1">
                <a:latin typeface="Malgun Gothic"/>
                <a:ea typeface="Malgun Gothic"/>
              </a:rPr>
              <a:t>로</a:t>
            </a:r>
            <a:r>
              <a:rPr lang="ko-KR" altLang="en-US" dirty="0">
                <a:latin typeface="Malgun Gothic"/>
                <a:ea typeface="Malgun Gothic"/>
              </a:rPr>
              <a:t> 동기화/학습 안정성 향상</a:t>
            </a:r>
          </a:p>
          <a:p>
            <a:pPr marL="0" indent="0">
              <a:buNone/>
            </a:pPr>
            <a:endParaRPr lang="ko-KR" altLang="en-US" dirty="0">
              <a:latin typeface="Malgun Gothic"/>
              <a:ea typeface="Malgun Gothic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2453C6-F272-68BD-4C62-AC5E731CD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DFA273-7265-C23D-DA9A-C117CE7A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223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10DF1B-7FAF-6C11-34DE-4A2BBF510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821F968-A57A-3EC0-2963-B565430511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0C84EFF-3FF2-EE21-5504-C84BE9C3A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40660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0 h 6858000"/>
              <a:gd name="connsiteX0" fmla="*/ 0 w 12192000"/>
              <a:gd name="connsiteY0" fmla="*/ 0 h 2406604"/>
              <a:gd name="connsiteX1" fmla="*/ 12192000 w 12192000"/>
              <a:gd name="connsiteY1" fmla="*/ 0 h 2406604"/>
              <a:gd name="connsiteX2" fmla="*/ 12192000 w 12192000"/>
              <a:gd name="connsiteY2" fmla="*/ 2406593 h 2406604"/>
              <a:gd name="connsiteX3" fmla="*/ 12178573 w 12192000"/>
              <a:gd name="connsiteY3" fmla="*/ 2273403 h 2406604"/>
              <a:gd name="connsiteX4" fmla="*/ 11531070 w 12192000"/>
              <a:gd name="connsiteY4" fmla="*/ 1745673 h 2406604"/>
              <a:gd name="connsiteX5" fmla="*/ 660932 w 12192000"/>
              <a:gd name="connsiteY5" fmla="*/ 1745673 h 2406604"/>
              <a:gd name="connsiteX6" fmla="*/ 1 w 12192000"/>
              <a:gd name="connsiteY6" fmla="*/ 2406604 h 2406604"/>
              <a:gd name="connsiteX7" fmla="*/ 0 w 12192000"/>
              <a:gd name="connsiteY7" fmla="*/ 0 h 240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406604">
                <a:moveTo>
                  <a:pt x="0" y="0"/>
                </a:moveTo>
                <a:lnTo>
                  <a:pt x="12192000" y="0"/>
                </a:lnTo>
                <a:lnTo>
                  <a:pt x="12192000" y="2406593"/>
                </a:lnTo>
                <a:lnTo>
                  <a:pt x="12178573" y="2273403"/>
                </a:lnTo>
                <a:cubicBezTo>
                  <a:pt x="12116944" y="1972228"/>
                  <a:pt x="11850464" y="1745673"/>
                  <a:pt x="11531070" y="1745673"/>
                </a:cubicBezTo>
                <a:lnTo>
                  <a:pt x="660932" y="1745673"/>
                </a:lnTo>
                <a:cubicBezTo>
                  <a:pt x="295910" y="1745673"/>
                  <a:pt x="1" y="2041582"/>
                  <a:pt x="1" y="2406604"/>
                </a:cubicBezTo>
                <a:cubicBezTo>
                  <a:pt x="1" y="1604403"/>
                  <a:pt x="0" y="802201"/>
                  <a:pt x="0" y="0"/>
                </a:cubicBez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95070DF-DB15-D976-18CC-02DB47A67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818" y="264120"/>
            <a:ext cx="9095508" cy="1343007"/>
          </a:xfrm>
        </p:spPr>
        <p:txBody>
          <a:bodyPr anchor="ctr">
            <a:norm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5. 네트워크 구조 및 구현 개요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77B64B-A84C-C27A-5A10-8B07A5FD7A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12/6/2025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8F7C7B-E81F-0E06-5A53-9998BB425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818" y="2024148"/>
            <a:ext cx="10650732" cy="484974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285750" indent="-285750">
              <a:buFont typeface="Wingdings" panose="020B0604020202020204" pitchFamily="34" charset="0"/>
              <a:buChar char="§"/>
            </a:pPr>
            <a:r>
              <a:rPr lang="ko-KR" altLang="en-US" sz="1600" err="1"/>
              <a:t>Q</a:t>
            </a:r>
            <a:r>
              <a:rPr lang="ko-KR" altLang="en-US" sz="1600" dirty="0"/>
              <a:t>-Network 구조</a:t>
            </a:r>
          </a:p>
          <a:p>
            <a:pPr marL="0" indent="0">
              <a:buNone/>
            </a:pPr>
            <a:r>
              <a:rPr lang="ko-KR" altLang="en-US" sz="1600" dirty="0"/>
              <a:t>    - 입력차원 : 4</a:t>
            </a:r>
          </a:p>
          <a:p>
            <a:pPr marL="0" indent="0">
              <a:buNone/>
            </a:pPr>
            <a:r>
              <a:rPr lang="ko-KR" altLang="en-US" sz="1600" dirty="0"/>
              <a:t>    - </a:t>
            </a:r>
            <a:r>
              <a:rPr lang="ko-KR" altLang="en-US" sz="1600" err="1"/>
              <a:t>은닉층</a:t>
            </a:r>
            <a:r>
              <a:rPr lang="ko-KR" altLang="en-US" sz="1600" dirty="0"/>
              <a:t> : </a:t>
            </a:r>
            <a:r>
              <a:rPr lang="ko-KR" altLang="en-US" sz="1600" err="1"/>
              <a:t>Fully-connected</a:t>
            </a:r>
            <a:r>
              <a:rPr lang="ko-KR" altLang="en-US" sz="1600" dirty="0"/>
              <a:t> 128 </a:t>
            </a:r>
            <a:r>
              <a:rPr lang="ko-KR" altLang="en-US" sz="1600" err="1"/>
              <a:t>units</a:t>
            </a:r>
            <a:r>
              <a:rPr lang="ko-KR" altLang="en-US" sz="1600" dirty="0"/>
              <a:t> + </a:t>
            </a:r>
            <a:r>
              <a:rPr lang="ko-KR" altLang="en-US" sz="1600" err="1"/>
              <a:t>ReLU</a:t>
            </a:r>
            <a:endParaRPr lang="ko-KR" altLang="en-US" sz="1600" dirty="0"/>
          </a:p>
          <a:p>
            <a:pPr marL="0" indent="0">
              <a:buNone/>
            </a:pPr>
            <a:r>
              <a:rPr lang="ko-KR" altLang="en-US" sz="1600" dirty="0"/>
              <a:t>    - 출력차원 : 2 (각 행동에 대한 </a:t>
            </a:r>
            <a:r>
              <a:rPr lang="ko-KR" altLang="en-US" sz="1600" err="1"/>
              <a:t>Q값</a:t>
            </a:r>
            <a:r>
              <a:rPr lang="ko-KR" altLang="en-US" sz="1600" dirty="0"/>
              <a:t>)</a:t>
            </a:r>
          </a:p>
          <a:p>
            <a:pPr marL="285750" indent="-285750">
              <a:buFont typeface="Wingdings" panose="020B0604020202020204" pitchFamily="34" charset="0"/>
              <a:buChar char="§"/>
            </a:pPr>
            <a:r>
              <a:rPr lang="ko-KR" altLang="en-US" sz="1600" dirty="0"/>
              <a:t>  </a:t>
            </a:r>
            <a:r>
              <a:rPr lang="ko-KR" altLang="en-US" sz="1600" err="1"/>
              <a:t>Replay</a:t>
            </a:r>
            <a:r>
              <a:rPr lang="ko-KR" altLang="en-US" sz="1600" dirty="0"/>
              <a:t> </a:t>
            </a:r>
            <a:r>
              <a:rPr lang="ko-KR" altLang="en-US" sz="1600" err="1"/>
              <a:t>Buffer</a:t>
            </a:r>
            <a:endParaRPr lang="ko-KR" altLang="en-US" sz="1600" dirty="0"/>
          </a:p>
          <a:p>
            <a:pPr marL="0" indent="0">
              <a:buNone/>
            </a:pPr>
            <a:r>
              <a:rPr lang="ko-KR" altLang="en-US" sz="1600" dirty="0"/>
              <a:t>    -  용량 :  50,000 </a:t>
            </a:r>
            <a:r>
              <a:rPr lang="ko-KR" altLang="en-US" sz="1600" err="1"/>
              <a:t>transition</a:t>
            </a:r>
            <a:endParaRPr lang="ko-KR" altLang="en-US" sz="1600" dirty="0"/>
          </a:p>
          <a:p>
            <a:pPr marL="0" indent="0">
              <a:buNone/>
            </a:pPr>
            <a:r>
              <a:rPr lang="ko-KR" altLang="en-US" sz="1600" dirty="0"/>
              <a:t>    - 저장 형식 : (</a:t>
            </a:r>
            <a:r>
              <a:rPr lang="ko-KR" altLang="en-US" sz="1600" dirty="0" err="1"/>
              <a:t>s,a,r,s</a:t>
            </a:r>
            <a:r>
              <a:rPr lang="ko-KR" altLang="en-US" sz="1600" dirty="0"/>
              <a:t>', </a:t>
            </a:r>
            <a:r>
              <a:rPr lang="ko-KR" altLang="en-US" sz="1600" dirty="0" err="1"/>
              <a:t>done</a:t>
            </a:r>
            <a:r>
              <a:rPr lang="ko-KR" altLang="en-US" sz="1600" dirty="0"/>
              <a:t>)</a:t>
            </a:r>
          </a:p>
          <a:p>
            <a:pPr marL="0" indent="0">
              <a:buNone/>
            </a:pPr>
            <a:r>
              <a:rPr lang="ko-KR" altLang="en-US" sz="1600" dirty="0"/>
              <a:t>    -  </a:t>
            </a:r>
            <a:r>
              <a:rPr lang="ko-KR" altLang="en-US" sz="1600" err="1"/>
              <a:t>학습시</a:t>
            </a:r>
            <a:r>
              <a:rPr lang="ko-KR" altLang="en-US" sz="1600" dirty="0"/>
              <a:t> </a:t>
            </a:r>
            <a:r>
              <a:rPr lang="ko-KR" altLang="en-US" sz="1600" err="1"/>
              <a:t>mini-batch</a:t>
            </a:r>
            <a:r>
              <a:rPr lang="ko-KR" altLang="en-US" sz="1600" dirty="0"/>
              <a:t> 크기만큼 무작위 샘플링</a:t>
            </a:r>
          </a:p>
          <a:p>
            <a:pPr marL="285750" indent="-285750">
              <a:buFont typeface="Wingdings" panose="020B0604020202020204" pitchFamily="34" charset="0"/>
              <a:buChar char="§"/>
            </a:pPr>
            <a:r>
              <a:rPr lang="ko-KR" altLang="en-US" sz="1600" dirty="0"/>
              <a:t> 구현파일 구조 </a:t>
            </a:r>
          </a:p>
          <a:p>
            <a:pPr marL="0" indent="0">
              <a:buNone/>
            </a:pPr>
            <a:r>
              <a:rPr lang="ko-KR" altLang="en-US" sz="1600" dirty="0"/>
              <a:t>    - dqn_agent.py : </a:t>
            </a:r>
            <a:r>
              <a:rPr lang="ko-KR" altLang="en-US" sz="1600" dirty="0" err="1"/>
              <a:t>DQNAgent</a:t>
            </a:r>
            <a:r>
              <a:rPr lang="ko-KR" altLang="en-US" sz="1600" dirty="0"/>
              <a:t> 클래스 (선택행동. 학습, 타겟 업데이트)  / replay_buffer.py :  </a:t>
            </a:r>
            <a:r>
              <a:rPr lang="ko-KR" altLang="en-US" sz="1600" dirty="0" err="1"/>
              <a:t>ReplayBuffer</a:t>
            </a:r>
            <a:r>
              <a:rPr lang="ko-KR" altLang="en-US" sz="1600" dirty="0"/>
              <a:t> 클래스/ networks.py : </a:t>
            </a:r>
            <a:r>
              <a:rPr lang="ko-KR" altLang="en-US" sz="1600" dirty="0" err="1"/>
              <a:t>QNetwork</a:t>
            </a:r>
            <a:r>
              <a:rPr lang="ko-KR" altLang="en-US" sz="1600" dirty="0"/>
              <a:t> 정의 / train_cartpole.py : 학습 루프 및 실험 스크립트 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0619DC-14B7-D5A1-328D-C3FAF7B62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55AE79-0268-9907-0484-49FFB1853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939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02C5BD-A15E-C981-6F3F-75A50D237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F810525-9CA5-F246-600D-5E592F8DA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B3D63A7-B3FC-04E8-B9AB-1F819EB24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40660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0 h 6858000"/>
              <a:gd name="connsiteX0" fmla="*/ 0 w 12192000"/>
              <a:gd name="connsiteY0" fmla="*/ 0 h 2406604"/>
              <a:gd name="connsiteX1" fmla="*/ 12192000 w 12192000"/>
              <a:gd name="connsiteY1" fmla="*/ 0 h 2406604"/>
              <a:gd name="connsiteX2" fmla="*/ 12192000 w 12192000"/>
              <a:gd name="connsiteY2" fmla="*/ 2406593 h 2406604"/>
              <a:gd name="connsiteX3" fmla="*/ 12178573 w 12192000"/>
              <a:gd name="connsiteY3" fmla="*/ 2273403 h 2406604"/>
              <a:gd name="connsiteX4" fmla="*/ 11531070 w 12192000"/>
              <a:gd name="connsiteY4" fmla="*/ 1745673 h 2406604"/>
              <a:gd name="connsiteX5" fmla="*/ 660932 w 12192000"/>
              <a:gd name="connsiteY5" fmla="*/ 1745673 h 2406604"/>
              <a:gd name="connsiteX6" fmla="*/ 1 w 12192000"/>
              <a:gd name="connsiteY6" fmla="*/ 2406604 h 2406604"/>
              <a:gd name="connsiteX7" fmla="*/ 0 w 12192000"/>
              <a:gd name="connsiteY7" fmla="*/ 0 h 240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406604">
                <a:moveTo>
                  <a:pt x="0" y="0"/>
                </a:moveTo>
                <a:lnTo>
                  <a:pt x="12192000" y="0"/>
                </a:lnTo>
                <a:lnTo>
                  <a:pt x="12192000" y="2406593"/>
                </a:lnTo>
                <a:lnTo>
                  <a:pt x="12178573" y="2273403"/>
                </a:lnTo>
                <a:cubicBezTo>
                  <a:pt x="12116944" y="1972228"/>
                  <a:pt x="11850464" y="1745673"/>
                  <a:pt x="11531070" y="1745673"/>
                </a:cubicBezTo>
                <a:lnTo>
                  <a:pt x="660932" y="1745673"/>
                </a:lnTo>
                <a:cubicBezTo>
                  <a:pt x="295910" y="1745673"/>
                  <a:pt x="1" y="2041582"/>
                  <a:pt x="1" y="2406604"/>
                </a:cubicBezTo>
                <a:cubicBezTo>
                  <a:pt x="1" y="1604403"/>
                  <a:pt x="0" y="802201"/>
                  <a:pt x="0" y="0"/>
                </a:cubicBez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4AA741D-C5AF-4BAB-4217-99E2AD09B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818" y="264120"/>
            <a:ext cx="9095508" cy="1343007"/>
          </a:xfrm>
        </p:spPr>
        <p:txBody>
          <a:bodyPr anchor="ctr">
            <a:norm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6. </a:t>
            </a:r>
            <a:r>
              <a:rPr lang="ko-KR" altLang="en-US" dirty="0" err="1">
                <a:solidFill>
                  <a:schemeClr val="bg1"/>
                </a:solidFill>
              </a:rPr>
              <a:t>하이퍼파라미터</a:t>
            </a:r>
            <a:r>
              <a:rPr lang="ko-KR" altLang="en-US" dirty="0">
                <a:solidFill>
                  <a:schemeClr val="bg1"/>
                </a:solidFill>
              </a:rPr>
              <a:t> 설정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334C65-9A0F-4657-8C31-DFF99ACFA6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12/6/2025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66F9B3-8E0E-859D-8D07-D6A75ADBF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818" y="2422381"/>
            <a:ext cx="10855036" cy="3756746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285750" indent="-285750">
              <a:buFont typeface="Wingdings"/>
              <a:buChar char="§"/>
            </a:pPr>
            <a:endParaRPr lang="ko-KR" altLang="en-US" dirty="0"/>
          </a:p>
          <a:p>
            <a:pPr>
              <a:buFont typeface="Wingdings" panose="020B0604020202020204" pitchFamily="34" charset="0"/>
              <a:buChar char="§"/>
            </a:pPr>
            <a:r>
              <a:rPr lang="ko-KR" altLang="en-US" sz="1600" dirty="0"/>
              <a:t>내용</a:t>
            </a:r>
          </a:p>
          <a:p>
            <a:pPr marL="0" indent="0">
              <a:buNone/>
            </a:pPr>
            <a:r>
              <a:rPr lang="ko-KR" altLang="en-US" sz="1600" dirty="0"/>
              <a:t>    - </a:t>
            </a:r>
            <a:r>
              <a:rPr lang="ko-KR" altLang="en-US" sz="1600" dirty="0" err="1"/>
              <a:t>할인률</a:t>
            </a:r>
            <a:r>
              <a:rPr lang="ko-KR" altLang="en-US" sz="1600" dirty="0"/>
              <a:t> </a:t>
            </a:r>
            <a:r>
              <a:rPr lang="ko-KR" sz="1600" dirty="0" err="1"/>
              <a:t>γ</a:t>
            </a:r>
            <a:r>
              <a:rPr lang="ko-KR" sz="1600" dirty="0"/>
              <a:t> : 0.99</a:t>
            </a:r>
            <a:endParaRPr lang="ko-KR" altLang="en-US" sz="1600" dirty="0"/>
          </a:p>
          <a:p>
            <a:pPr marL="0" indent="0">
              <a:buNone/>
            </a:pPr>
            <a:r>
              <a:rPr lang="ko-KR" altLang="en-US" sz="1600" dirty="0"/>
              <a:t>     </a:t>
            </a:r>
            <a:r>
              <a:rPr lang="en-US" altLang="ko-KR" sz="1600" dirty="0"/>
              <a:t>-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학습률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1e</a:t>
            </a:r>
            <a:r>
              <a:rPr lang="ko-KR" altLang="en-US" sz="1600" dirty="0"/>
              <a:t> –</a:t>
            </a:r>
            <a:r>
              <a:rPr lang="en-US" altLang="ko-KR" sz="1600" dirty="0"/>
              <a:t>3(Adam)</a:t>
            </a:r>
            <a:endParaRPr lang="ko-KR" altLang="en-US" sz="1600" dirty="0"/>
          </a:p>
          <a:p>
            <a:pPr marL="0" indent="0">
              <a:buNone/>
            </a:pPr>
            <a:r>
              <a:rPr lang="en-US" altLang="ko-KR" sz="1600" dirty="0"/>
              <a:t>     - Replay buffer </a:t>
            </a:r>
            <a:r>
              <a:rPr lang="en-US" altLang="ko-KR" sz="1600" dirty="0" err="1"/>
              <a:t>크기</a:t>
            </a:r>
            <a:r>
              <a:rPr lang="en-US" altLang="ko-KR" sz="1600" dirty="0"/>
              <a:t> : 50,000</a:t>
            </a:r>
          </a:p>
          <a:p>
            <a:pPr marL="0" indent="0">
              <a:buNone/>
            </a:pPr>
            <a:r>
              <a:rPr lang="en-US" altLang="ko-KR" sz="1600" dirty="0"/>
              <a:t>    -  mini-batch </a:t>
            </a:r>
            <a:r>
              <a:rPr lang="en-US" altLang="ko-KR" sz="1600" err="1"/>
              <a:t>크기</a:t>
            </a:r>
            <a:r>
              <a:rPr lang="en-US" altLang="ko-KR" sz="1600"/>
              <a:t> : 32</a:t>
            </a:r>
          </a:p>
          <a:p>
            <a:pPr marL="0" indent="0">
              <a:buNone/>
            </a:pPr>
            <a:r>
              <a:rPr lang="en-US" altLang="ko-KR" sz="1600" dirty="0"/>
              <a:t>    - Epsilon -  greedy 탐험 :  초기 ε =1.0 / </a:t>
            </a:r>
            <a:r>
              <a:rPr lang="en-US" altLang="ko-KR" sz="1600" dirty="0" err="1"/>
              <a:t>최종</a:t>
            </a:r>
            <a:r>
              <a:rPr lang="en-US" altLang="ko-KR" sz="1600" dirty="0"/>
              <a:t> </a:t>
            </a:r>
            <a:r>
              <a:rPr lang="en-US" altLang="ko-KR" sz="1600" dirty="0">
                <a:latin typeface="Neue Haas Grotesk Text Pro"/>
                <a:cs typeface="Segoe UI"/>
              </a:rPr>
              <a:t>ε =0.05 / </a:t>
            </a:r>
            <a:r>
              <a:rPr lang="en-US" altLang="ko-KR" sz="1600" dirty="0" err="1">
                <a:latin typeface="Neue Haas Grotesk Text Pro"/>
                <a:cs typeface="Segoe UI"/>
              </a:rPr>
              <a:t>감소방식</a:t>
            </a:r>
            <a:r>
              <a:rPr lang="en-US" altLang="ko-KR" sz="1600" dirty="0">
                <a:latin typeface="Neue Haas Grotesk Text Pro"/>
                <a:cs typeface="Segoe UI"/>
              </a:rPr>
              <a:t> : 50,000 step </a:t>
            </a:r>
            <a:r>
              <a:rPr lang="en-US" altLang="ko-KR" sz="1600" dirty="0" err="1">
                <a:latin typeface="Neue Haas Grotesk Text Pro"/>
                <a:cs typeface="Segoe UI"/>
              </a:rPr>
              <a:t>동안</a:t>
            </a:r>
            <a:r>
              <a:rPr lang="en-US" altLang="ko-KR" sz="1600" dirty="0">
                <a:latin typeface="Neue Haas Grotesk Text Pro"/>
                <a:cs typeface="Segoe UI"/>
              </a:rPr>
              <a:t> </a:t>
            </a:r>
            <a:r>
              <a:rPr lang="en-US" altLang="ko-KR" sz="1600" dirty="0" err="1">
                <a:latin typeface="Neue Haas Grotesk Text Pro"/>
                <a:cs typeface="Segoe UI"/>
              </a:rPr>
              <a:t>선형</a:t>
            </a:r>
            <a:r>
              <a:rPr lang="en-US" altLang="ko-KR" sz="1600" dirty="0">
                <a:latin typeface="Neue Haas Grotesk Text Pro"/>
                <a:cs typeface="Segoe UI"/>
              </a:rPr>
              <a:t> </a:t>
            </a:r>
            <a:r>
              <a:rPr lang="en-US" altLang="ko-KR" sz="1600" dirty="0" err="1">
                <a:latin typeface="Neue Haas Grotesk Text Pro"/>
                <a:cs typeface="Segoe UI"/>
              </a:rPr>
              <a:t>감소</a:t>
            </a:r>
            <a:endParaRPr lang="en-US" altLang="ko-KR" sz="1600">
              <a:latin typeface="Neue Haas Grotesk Text Pro"/>
              <a:cs typeface="Segoe UI"/>
            </a:endParaRPr>
          </a:p>
          <a:p>
            <a:pPr marL="0" indent="0">
              <a:buNone/>
            </a:pPr>
            <a:r>
              <a:rPr lang="en-US" altLang="ko-KR" sz="1600" dirty="0">
                <a:cs typeface="Segoe UI"/>
              </a:rPr>
              <a:t>    - Target Network </a:t>
            </a:r>
            <a:r>
              <a:rPr lang="en-US" altLang="ko-KR" sz="1600" dirty="0" err="1">
                <a:cs typeface="Segoe UI"/>
              </a:rPr>
              <a:t>업데이트</a:t>
            </a:r>
            <a:r>
              <a:rPr lang="en-US" altLang="ko-KR" sz="1600" dirty="0">
                <a:cs typeface="Segoe UI"/>
              </a:rPr>
              <a:t> </a:t>
            </a:r>
            <a:r>
              <a:rPr lang="en-US" altLang="ko-KR" sz="1600" dirty="0" err="1">
                <a:cs typeface="Segoe UI"/>
              </a:rPr>
              <a:t>주기</a:t>
            </a:r>
            <a:r>
              <a:rPr lang="en-US" altLang="ko-KR" sz="1600" dirty="0">
                <a:cs typeface="Segoe UI"/>
              </a:rPr>
              <a:t> : 1,000 step </a:t>
            </a:r>
            <a:r>
              <a:rPr lang="en-US" altLang="ko-KR" sz="1600" dirty="0" err="1">
                <a:cs typeface="Segoe UI"/>
              </a:rPr>
              <a:t>마다</a:t>
            </a:r>
            <a:r>
              <a:rPr lang="en-US" altLang="ko-KR" sz="1600" dirty="0">
                <a:cs typeface="Segoe UI"/>
              </a:rPr>
              <a:t> </a:t>
            </a:r>
            <a:r>
              <a:rPr lang="en-US" altLang="ko-KR" sz="1600" dirty="0">
                <a:latin typeface="Neue Haas Grotesk Text Pro"/>
                <a:cs typeface="Segoe UI"/>
              </a:rPr>
              <a:t>θ</a:t>
            </a:r>
            <a:r>
              <a:rPr lang="ko-KR" sz="1600" dirty="0">
                <a:latin typeface="Segoe UI"/>
                <a:cs typeface="Segoe UI"/>
              </a:rPr>
              <a:t>− </a:t>
            </a:r>
            <a:r>
              <a:rPr lang="en-US" altLang="ko-KR" sz="1600" dirty="0">
                <a:latin typeface="Segoe UI"/>
                <a:cs typeface="Segoe UI"/>
              </a:rPr>
              <a:t>&lt;-</a:t>
            </a:r>
            <a:r>
              <a:rPr lang="ko-KR" sz="1600" dirty="0">
                <a:latin typeface="Segoe UI"/>
                <a:cs typeface="Segoe UI"/>
              </a:rPr>
              <a:t> </a:t>
            </a:r>
            <a:r>
              <a:rPr lang="en-US" altLang="ko-KR" sz="1600" dirty="0">
                <a:latin typeface="Neue Haas Grotesk Text Pro"/>
                <a:cs typeface="Segoe UI"/>
              </a:rPr>
              <a:t>θ</a:t>
            </a:r>
            <a:r>
              <a:rPr lang="ko-KR" sz="1600" dirty="0">
                <a:latin typeface="Neue Haas Grotesk Text Pro"/>
                <a:cs typeface="Segoe UI"/>
              </a:rPr>
              <a:t> </a:t>
            </a:r>
            <a:endParaRPr lang="en-US" sz="1600">
              <a:latin typeface="Neue Haas Grotesk Text Pro"/>
              <a:cs typeface="Segoe UI"/>
            </a:endParaRPr>
          </a:p>
          <a:p>
            <a:pPr marL="0" indent="0">
              <a:buNone/>
            </a:pPr>
            <a:r>
              <a:rPr lang="ko-KR" sz="1600" dirty="0">
                <a:latin typeface="Neue Haas Grotesk Text Pro"/>
                <a:cs typeface="Segoe UI"/>
              </a:rPr>
              <a:t>    </a:t>
            </a:r>
            <a:r>
              <a:rPr lang="en-US" altLang="ko-KR" sz="1600" dirty="0">
                <a:latin typeface="Neue Haas Grotesk Text Pro"/>
                <a:cs typeface="Segoe UI"/>
              </a:rPr>
              <a:t>-</a:t>
            </a:r>
            <a:r>
              <a:rPr lang="ko-KR" sz="1600" dirty="0">
                <a:latin typeface="Neue Haas Grotesk Text Pro"/>
                <a:cs typeface="Segoe UI"/>
              </a:rPr>
              <a:t> 학습 에피소드 수 :</a:t>
            </a:r>
            <a:r>
              <a:rPr lang="ko-KR" altLang="en-US" sz="1600">
                <a:latin typeface="Neue Haas Grotesk Text Pro"/>
                <a:cs typeface="Segoe UI"/>
              </a:rPr>
              <a:t>  기본실험 500 episodes </a:t>
            </a:r>
            <a:r>
              <a:rPr lang="ko-KR" altLang="en-US" sz="1600">
                <a:ea typeface="+mn-lt"/>
                <a:cs typeface="Segoe UI"/>
              </a:rPr>
              <a:t>(seed 0, 1, 2)</a:t>
            </a:r>
            <a:endParaRPr lang="ko-KR" altLang="en-US" sz="1600" dirty="0">
              <a:ea typeface="+mn-lt"/>
              <a:cs typeface="Segoe UI"/>
            </a:endParaRPr>
          </a:p>
          <a:p>
            <a:pPr marL="0" indent="0">
              <a:buNone/>
            </a:pPr>
            <a:r>
              <a:rPr lang="ko-KR" altLang="en-US" sz="1600">
                <a:cs typeface="Segoe UI"/>
              </a:rPr>
              <a:t>    - 평가용 에피소드 수 : </a:t>
            </a:r>
            <a:r>
              <a:rPr lang="ko-KR" altLang="en-US" sz="1600">
                <a:ea typeface="+mn-lt"/>
                <a:cs typeface="Segoe UI"/>
              </a:rPr>
              <a:t>별도의 독립 평가 에피소드는 두지 않고, 학습 과정에서의 episode return을 기반으로 분석</a:t>
            </a:r>
            <a:endParaRPr lang="ko-KR" sz="1600" dirty="0" err="1">
              <a:solidFill>
                <a:srgbClr val="000000"/>
              </a:solidFill>
              <a:cs typeface="Segoe UI"/>
            </a:endParaRPr>
          </a:p>
          <a:p>
            <a:pPr marL="0" indent="0">
              <a:buNone/>
            </a:pPr>
            <a:endParaRPr lang="ko-KR" altLang="en-US" sz="1600" dirty="0">
              <a:cs typeface="Segoe UI"/>
            </a:endParaRPr>
          </a:p>
          <a:p>
            <a:pPr marL="0" indent="0">
              <a:buNone/>
            </a:pPr>
            <a:endParaRPr lang="en-US" altLang="ko-KR" sz="1500" dirty="0"/>
          </a:p>
          <a:p>
            <a:pPr marL="0" indent="0">
              <a:buNone/>
            </a:pPr>
            <a:endParaRPr lang="ko-KR" altLang="en-US" sz="15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9A0ED0-4503-9531-9E08-2AB1EFD48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A25A7B-93BD-4ABD-EB74-BA6971246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14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8CA9E9D-6A76-A56D-C4DE-0910EA872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B7E5ED-F72A-DBA0-549D-BABA6DAC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40660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0 h 6858000"/>
              <a:gd name="connsiteX0" fmla="*/ 0 w 12192000"/>
              <a:gd name="connsiteY0" fmla="*/ 0 h 2406604"/>
              <a:gd name="connsiteX1" fmla="*/ 12192000 w 12192000"/>
              <a:gd name="connsiteY1" fmla="*/ 0 h 2406604"/>
              <a:gd name="connsiteX2" fmla="*/ 12192000 w 12192000"/>
              <a:gd name="connsiteY2" fmla="*/ 2406593 h 2406604"/>
              <a:gd name="connsiteX3" fmla="*/ 12178573 w 12192000"/>
              <a:gd name="connsiteY3" fmla="*/ 2273403 h 2406604"/>
              <a:gd name="connsiteX4" fmla="*/ 11531070 w 12192000"/>
              <a:gd name="connsiteY4" fmla="*/ 1745673 h 2406604"/>
              <a:gd name="connsiteX5" fmla="*/ 660932 w 12192000"/>
              <a:gd name="connsiteY5" fmla="*/ 1745673 h 2406604"/>
              <a:gd name="connsiteX6" fmla="*/ 1 w 12192000"/>
              <a:gd name="connsiteY6" fmla="*/ 2406604 h 2406604"/>
              <a:gd name="connsiteX7" fmla="*/ 0 w 12192000"/>
              <a:gd name="connsiteY7" fmla="*/ 0 h 240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406604">
                <a:moveTo>
                  <a:pt x="0" y="0"/>
                </a:moveTo>
                <a:lnTo>
                  <a:pt x="12192000" y="0"/>
                </a:lnTo>
                <a:lnTo>
                  <a:pt x="12192000" y="2406593"/>
                </a:lnTo>
                <a:lnTo>
                  <a:pt x="12178573" y="2273403"/>
                </a:lnTo>
                <a:cubicBezTo>
                  <a:pt x="12116944" y="1972228"/>
                  <a:pt x="11850464" y="1745673"/>
                  <a:pt x="11531070" y="1745673"/>
                </a:cubicBezTo>
                <a:lnTo>
                  <a:pt x="660932" y="1745673"/>
                </a:lnTo>
                <a:cubicBezTo>
                  <a:pt x="295910" y="1745673"/>
                  <a:pt x="1" y="2041582"/>
                  <a:pt x="1" y="2406604"/>
                </a:cubicBezTo>
                <a:cubicBezTo>
                  <a:pt x="1" y="1604403"/>
                  <a:pt x="0" y="802201"/>
                  <a:pt x="0" y="0"/>
                </a:cubicBez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ED14C45-72C2-9D19-3819-5938E9EEE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818" y="264120"/>
            <a:ext cx="9095508" cy="1343007"/>
          </a:xfrm>
        </p:spPr>
        <p:txBody>
          <a:bodyPr anchor="ctr">
            <a:normAutofit/>
          </a:bodyPr>
          <a:lstStyle/>
          <a:p>
            <a:r>
              <a:rPr lang="en-US" altLang="ko-KR">
                <a:solidFill>
                  <a:schemeClr val="bg1"/>
                </a:solidFill>
                <a:ea typeface="+mj-lt"/>
                <a:cs typeface="+mj-lt"/>
              </a:rPr>
              <a:t>7.</a:t>
            </a:r>
            <a:r>
              <a:rPr lang="ko-KR" altLang="en-US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ko-KR">
                <a:solidFill>
                  <a:schemeClr val="bg1"/>
                </a:solidFill>
                <a:ea typeface="+mj-lt"/>
                <a:cs typeface="+mj-lt"/>
              </a:rPr>
              <a:t>기본 설정에서의 학습 곡선 (Baseline DQN Results)</a:t>
            </a:r>
            <a:endParaRPr lang="ko-KR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216C57-06A7-C7B7-08C5-0F26D7AF6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12/6/2025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F5A771-C252-97B3-06A8-ABD4EB173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818" y="2427558"/>
            <a:ext cx="10451950" cy="3751569"/>
          </a:xfrm>
        </p:spPr>
        <p:txBody>
          <a:bodyPr anchor="ctr">
            <a:normAutofit/>
          </a:bodyPr>
          <a:lstStyle/>
          <a:p>
            <a:pPr>
              <a:buFont typeface="Wingdings" panose="020B0604020202020204" pitchFamily="34" charset="0"/>
              <a:buChar char="§"/>
            </a:pPr>
            <a:r>
              <a:rPr lang="ko-KR" altLang="en-US" dirty="0"/>
              <a:t>그래프:</a:t>
            </a:r>
            <a:endParaRPr lang="ko-KR" dirty="0"/>
          </a:p>
          <a:p>
            <a:pPr marL="0" indent="0">
              <a:buNone/>
            </a:pPr>
            <a:r>
              <a:rPr lang="ko-KR" dirty="0"/>
              <a:t>    </a:t>
            </a:r>
            <a:r>
              <a:rPr lang="en-US" altLang="ko-KR" dirty="0"/>
              <a:t>-</a:t>
            </a:r>
            <a:r>
              <a:rPr lang="ko-KR"/>
              <a:t> x축: Episode</a:t>
            </a:r>
          </a:p>
          <a:p>
            <a:pPr marL="0" indent="0">
              <a:buNone/>
            </a:pPr>
            <a:r>
              <a:rPr lang="ko-KR" altLang="en-US" dirty="0"/>
              <a:t>   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ko-KR" dirty="0"/>
              <a:t>y축: </a:t>
            </a:r>
            <a:r>
              <a:rPr lang="en-US" altLang="ko-KR" dirty="0"/>
              <a:t>moving</a:t>
            </a:r>
            <a:r>
              <a:rPr lang="ko-KR"/>
              <a:t> average reward</a:t>
            </a:r>
          </a:p>
          <a:p>
            <a:pPr marL="0" indent="0">
              <a:buNone/>
            </a:pPr>
            <a:r>
              <a:rPr lang="ko-KR" dirty="0"/>
              <a:t>    </a:t>
            </a:r>
            <a:r>
              <a:rPr lang="en-US" altLang="ko-KR" dirty="0"/>
              <a:t>-(</a:t>
            </a:r>
            <a:r>
              <a:rPr lang="ko-KR" dirty="0"/>
              <a:t>분석</a:t>
            </a:r>
            <a:r>
              <a:rPr lang="en-US" altLang="ko-KR" dirty="0"/>
              <a:t>)</a:t>
            </a:r>
            <a:r>
              <a:rPr lang="ko-KR" dirty="0"/>
              <a:t> </a:t>
            </a:r>
            <a:r>
              <a:rPr lang="ko-KR" altLang="en-US" dirty="0">
                <a:ea typeface="+mn-lt"/>
                <a:cs typeface="+mn-lt"/>
              </a:rPr>
              <a:t> </a:t>
            </a:r>
            <a:r>
              <a:rPr lang="ko-KR">
                <a:ea typeface="+mn-lt"/>
                <a:cs typeface="+mn-lt"/>
              </a:rPr>
              <a:t>모든 </a:t>
            </a:r>
            <a:r>
              <a:rPr lang="en-US" altLang="ko-KR">
                <a:ea typeface="+mn-lt"/>
                <a:cs typeface="+mn-lt"/>
              </a:rPr>
              <a:t>seed</a:t>
            </a:r>
            <a:r>
              <a:rPr lang="ko-KR">
                <a:ea typeface="+mn-lt"/>
                <a:cs typeface="+mn-lt"/>
              </a:rPr>
              <a:t>에서 이동 평균 리턴이 </a:t>
            </a:r>
            <a:endParaRPr lang="ko-KR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ko-KR">
                <a:ea typeface="+mn-lt"/>
                <a:cs typeface="+mn-lt"/>
              </a:rPr>
              <a:t>      초기보다 </a:t>
            </a:r>
            <a:r>
              <a:rPr lang="en-US" altLang="ko-KR">
                <a:ea typeface="+mn-lt"/>
                <a:cs typeface="+mn-lt"/>
              </a:rPr>
              <a:t>50%</a:t>
            </a:r>
            <a:r>
              <a:rPr lang="ko-KR">
                <a:ea typeface="+mn-lt"/>
                <a:cs typeface="+mn-lt"/>
              </a:rPr>
              <a:t> 이상 증가</a:t>
            </a:r>
            <a:r>
              <a:rPr lang="en-US" altLang="ko-KR">
                <a:ea typeface="+mn-lt"/>
                <a:cs typeface="+mn-lt"/>
              </a:rPr>
              <a:t>.</a:t>
            </a:r>
            <a:r>
              <a:rPr lang="ko-KR">
                <a:ea typeface="+mn-lt"/>
                <a:cs typeface="+mn-lt"/>
              </a:rPr>
              <a:t> 성능 향상은 </a:t>
            </a:r>
            <a:endParaRPr lang="ko-KR" alt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ko-KR" altLang="en-US">
                <a:ea typeface="+mn-lt"/>
                <a:cs typeface="+mn-lt"/>
              </a:rPr>
              <a:t>     </a:t>
            </a:r>
            <a:r>
              <a:rPr lang="ko-KR">
                <a:ea typeface="+mn-lt"/>
                <a:cs typeface="+mn-lt"/>
              </a:rPr>
              <a:t>확인되었으나 수렴 안정성 미흡</a:t>
            </a:r>
            <a:endParaRPr lang="ko-KR"/>
          </a:p>
          <a:p>
            <a:pPr marL="0" indent="0">
              <a:buNone/>
            </a:pPr>
            <a:endParaRPr lang="ko-KR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25F83B-CA96-7FFB-BCCF-C97EE9F44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936119-F6F0-3B0D-F47E-BBC0314C0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7" name="그림 6" descr="텍스트, 도표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936207-02E8-B8AB-8F4D-EAEE9E0A9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614" y="2997062"/>
            <a:ext cx="5092424" cy="317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81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2777C0-25D3-20BC-6AA5-1D37CC4C7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64B1702-C162-4784-67CB-0C7F5E05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A62F773-DBB2-6325-FA49-A2ECEA3E8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40660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0 h 6858000"/>
              <a:gd name="connsiteX0" fmla="*/ 0 w 12192000"/>
              <a:gd name="connsiteY0" fmla="*/ 0 h 2406604"/>
              <a:gd name="connsiteX1" fmla="*/ 12192000 w 12192000"/>
              <a:gd name="connsiteY1" fmla="*/ 0 h 2406604"/>
              <a:gd name="connsiteX2" fmla="*/ 12192000 w 12192000"/>
              <a:gd name="connsiteY2" fmla="*/ 2406593 h 2406604"/>
              <a:gd name="connsiteX3" fmla="*/ 12178573 w 12192000"/>
              <a:gd name="connsiteY3" fmla="*/ 2273403 h 2406604"/>
              <a:gd name="connsiteX4" fmla="*/ 11531070 w 12192000"/>
              <a:gd name="connsiteY4" fmla="*/ 1745673 h 2406604"/>
              <a:gd name="connsiteX5" fmla="*/ 660932 w 12192000"/>
              <a:gd name="connsiteY5" fmla="*/ 1745673 h 2406604"/>
              <a:gd name="connsiteX6" fmla="*/ 1 w 12192000"/>
              <a:gd name="connsiteY6" fmla="*/ 2406604 h 2406604"/>
              <a:gd name="connsiteX7" fmla="*/ 0 w 12192000"/>
              <a:gd name="connsiteY7" fmla="*/ 0 h 240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406604">
                <a:moveTo>
                  <a:pt x="0" y="0"/>
                </a:moveTo>
                <a:lnTo>
                  <a:pt x="12192000" y="0"/>
                </a:lnTo>
                <a:lnTo>
                  <a:pt x="12192000" y="2406593"/>
                </a:lnTo>
                <a:lnTo>
                  <a:pt x="12178573" y="2273403"/>
                </a:lnTo>
                <a:cubicBezTo>
                  <a:pt x="12116944" y="1972228"/>
                  <a:pt x="11850464" y="1745673"/>
                  <a:pt x="11531070" y="1745673"/>
                </a:cubicBezTo>
                <a:lnTo>
                  <a:pt x="660932" y="1745673"/>
                </a:lnTo>
                <a:cubicBezTo>
                  <a:pt x="295910" y="1745673"/>
                  <a:pt x="1" y="2041582"/>
                  <a:pt x="1" y="2406604"/>
                </a:cubicBezTo>
                <a:cubicBezTo>
                  <a:pt x="1" y="1604403"/>
                  <a:pt x="0" y="802201"/>
                  <a:pt x="0" y="0"/>
                </a:cubicBez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7FB0D04-2BAE-EE3F-23C6-F9E20FF19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818" y="264120"/>
            <a:ext cx="9095508" cy="1343007"/>
          </a:xfrm>
        </p:spPr>
        <p:txBody>
          <a:bodyPr anchor="ctr">
            <a:norm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8. 하이퍼파라미터 및 Seed 변화에 따른 성능 비교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755B84-E825-447B-A42D-3DC4FB74D8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12/6/2025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1D8E8F-44BD-EAA4-299F-8925523FE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818" y="1720776"/>
            <a:ext cx="10871601" cy="5242437"/>
          </a:xfrm>
        </p:spPr>
        <p:txBody>
          <a:bodyPr anchor="ctr">
            <a:normAutofit/>
          </a:bodyPr>
          <a:lstStyle/>
          <a:p>
            <a:pPr>
              <a:buFont typeface="Wingdings" panose="020B0604020202020204" pitchFamily="34" charset="0"/>
              <a:buChar char="§"/>
            </a:pPr>
            <a:r>
              <a:rPr lang="ko-KR" altLang="en-US" dirty="0"/>
              <a:t>그래프 / 표:</a:t>
            </a:r>
            <a:endParaRPr lang="ko-KR" dirty="0"/>
          </a:p>
          <a:p>
            <a:pPr marL="0" indent="0">
              <a:buNone/>
            </a:pPr>
            <a:r>
              <a:rPr lang="ko-KR" dirty="0"/>
              <a:t>    </a:t>
            </a:r>
            <a:r>
              <a:rPr lang="en-US" altLang="ko-KR" dirty="0"/>
              <a:t>-</a:t>
            </a:r>
            <a:r>
              <a:rPr lang="ko-KR"/>
              <a:t>    Seed 0,1,2에 대한 </a:t>
            </a:r>
            <a:endParaRPr lang="ko-KR" dirty="0"/>
          </a:p>
          <a:p>
            <a:pPr marL="0" indent="0">
              <a:buNone/>
            </a:pPr>
            <a:r>
              <a:rPr lang="ko-KR"/>
              <a:t>평균/표준편차 band 그래프</a:t>
            </a:r>
            <a:endParaRPr lang="ko-KR" dirty="0"/>
          </a:p>
          <a:p>
            <a:pPr marL="0" indent="0">
              <a:buNone/>
            </a:pPr>
            <a:r>
              <a:rPr lang="ko-KR" dirty="0"/>
              <a:t>    </a:t>
            </a:r>
            <a:r>
              <a:rPr lang="en-US" altLang="ko-KR"/>
              <a:t>-(</a:t>
            </a:r>
            <a:r>
              <a:rPr lang="ko-KR"/>
              <a:t>분석</a:t>
            </a:r>
            <a:r>
              <a:rPr lang="en-US" altLang="ko-KR"/>
              <a:t>)</a:t>
            </a:r>
            <a:r>
              <a:rPr lang="ko-KR" dirty="0"/>
              <a:t> </a:t>
            </a:r>
            <a:r>
              <a:rPr lang="ko-KR">
                <a:ea typeface="+mn-lt"/>
                <a:cs typeface="+mn-lt"/>
              </a:rPr>
              <a:t>표준편차가 매우 크게 나타나 학습이 불안정함.</a:t>
            </a:r>
            <a:endParaRPr lang="ko-KR" alt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ko-KR" altLang="en-US">
                <a:ea typeface="+mn-lt"/>
                <a:cs typeface="+mn-lt"/>
              </a:rPr>
              <a:t>    - 평균 리턴은 20~40점 범위에서 유지</a:t>
            </a:r>
          </a:p>
          <a:p>
            <a:pPr marL="0" indent="0">
              <a:buNone/>
            </a:pPr>
            <a:endParaRPr lang="ko-KR" altLang="en-US" dirty="0"/>
          </a:p>
          <a:p>
            <a:pPr>
              <a:buFont typeface="Wingdings" panose="020B0604020202020204" pitchFamily="34" charset="0"/>
              <a:buChar char="§"/>
            </a:pP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67621B-34BE-B7D4-BD36-932D7DC42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4BD87C-48B6-87A5-E08E-5450A5424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7" name="그림 6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C6AAAB-CDF4-0C05-86E8-C71BF7BD1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943" y="2539517"/>
            <a:ext cx="5529332" cy="332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297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B376C5-8AB6-2105-FF81-2A61125A3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29B7558-E14E-8F20-1E09-F96CFBA92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E5FD011-0625-30CA-1683-1EE3C655D4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40660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0 h 6858000"/>
              <a:gd name="connsiteX0" fmla="*/ 0 w 12192000"/>
              <a:gd name="connsiteY0" fmla="*/ 0 h 2406604"/>
              <a:gd name="connsiteX1" fmla="*/ 12192000 w 12192000"/>
              <a:gd name="connsiteY1" fmla="*/ 0 h 2406604"/>
              <a:gd name="connsiteX2" fmla="*/ 12192000 w 12192000"/>
              <a:gd name="connsiteY2" fmla="*/ 2406593 h 2406604"/>
              <a:gd name="connsiteX3" fmla="*/ 12178573 w 12192000"/>
              <a:gd name="connsiteY3" fmla="*/ 2273403 h 2406604"/>
              <a:gd name="connsiteX4" fmla="*/ 11531070 w 12192000"/>
              <a:gd name="connsiteY4" fmla="*/ 1745673 h 2406604"/>
              <a:gd name="connsiteX5" fmla="*/ 660932 w 12192000"/>
              <a:gd name="connsiteY5" fmla="*/ 1745673 h 2406604"/>
              <a:gd name="connsiteX6" fmla="*/ 1 w 12192000"/>
              <a:gd name="connsiteY6" fmla="*/ 2406604 h 2406604"/>
              <a:gd name="connsiteX7" fmla="*/ 0 w 12192000"/>
              <a:gd name="connsiteY7" fmla="*/ 0 h 240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406604">
                <a:moveTo>
                  <a:pt x="0" y="0"/>
                </a:moveTo>
                <a:lnTo>
                  <a:pt x="12192000" y="0"/>
                </a:lnTo>
                <a:lnTo>
                  <a:pt x="12192000" y="2406593"/>
                </a:lnTo>
                <a:lnTo>
                  <a:pt x="12178573" y="2273403"/>
                </a:lnTo>
                <a:cubicBezTo>
                  <a:pt x="12116944" y="1972228"/>
                  <a:pt x="11850464" y="1745673"/>
                  <a:pt x="11531070" y="1745673"/>
                </a:cubicBezTo>
                <a:lnTo>
                  <a:pt x="660932" y="1745673"/>
                </a:lnTo>
                <a:cubicBezTo>
                  <a:pt x="295910" y="1745673"/>
                  <a:pt x="1" y="2041582"/>
                  <a:pt x="1" y="2406604"/>
                </a:cubicBezTo>
                <a:cubicBezTo>
                  <a:pt x="1" y="1604403"/>
                  <a:pt x="0" y="802201"/>
                  <a:pt x="0" y="0"/>
                </a:cubicBez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0B63280-7A75-7F5B-1214-C4BDB87C7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818" y="264120"/>
            <a:ext cx="9095508" cy="1343007"/>
          </a:xfrm>
        </p:spPr>
        <p:txBody>
          <a:bodyPr anchor="ctr">
            <a:norm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9. </a:t>
            </a:r>
            <a:r>
              <a:rPr lang="ko-KR" altLang="en-US">
                <a:solidFill>
                  <a:schemeClr val="bg1"/>
                </a:solidFill>
                <a:ea typeface="+mj-lt"/>
                <a:cs typeface="+mj-lt"/>
              </a:rPr>
              <a:t>결론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B754D-9162-59F7-4855-3297D2260B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12/6/2025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99DC34-57E6-A493-5DB5-889C24ACE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818" y="2526949"/>
            <a:ext cx="10650732" cy="3873047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109999"/>
              </a:lnSpc>
              <a:buFont typeface="Wingdings"/>
              <a:buChar char="§"/>
            </a:pPr>
            <a:r>
              <a:rPr lang="ko-KR" altLang="en-US"/>
              <a:t>핵심 결론</a:t>
            </a:r>
            <a:endParaRPr lang="ko-KR"/>
          </a:p>
          <a:p>
            <a:pPr marL="0" indent="0">
              <a:lnSpc>
                <a:spcPct val="109999"/>
              </a:lnSpc>
              <a:buNone/>
            </a:pPr>
            <a:r>
              <a:rPr lang="ko-KR" altLang="en-US" dirty="0">
                <a:ea typeface="+mn-lt"/>
                <a:cs typeface="+mn-lt"/>
              </a:rPr>
              <a:t>    </a:t>
            </a:r>
            <a:r>
              <a:rPr lang="en-US" altLang="ko-KR">
                <a:ea typeface="+mn-lt"/>
                <a:cs typeface="+mn-lt"/>
              </a:rPr>
              <a:t>-</a:t>
            </a:r>
            <a:r>
              <a:rPr lang="ko-KR">
                <a:ea typeface="+mn-lt"/>
                <a:cs typeface="+mn-lt"/>
              </a:rPr>
              <a:t>DQN 핵심 구조</a:t>
            </a:r>
            <a:r>
              <a:rPr lang="en-US" altLang="ko-KR">
                <a:ea typeface="+mn-lt"/>
                <a:cs typeface="+mn-lt"/>
              </a:rPr>
              <a:t>(</a:t>
            </a:r>
            <a:r>
              <a:rPr lang="ko-KR">
                <a:ea typeface="+mn-lt"/>
                <a:cs typeface="+mn-lt"/>
              </a:rPr>
              <a:t>Replay </a:t>
            </a:r>
            <a:r>
              <a:rPr lang="en-US" altLang="ko-KR">
                <a:ea typeface="+mn-lt"/>
                <a:cs typeface="+mn-lt"/>
              </a:rPr>
              <a:t>Buffer,</a:t>
            </a:r>
            <a:r>
              <a:rPr lang="ko-KR" dirty="0">
                <a:ea typeface="+mn-lt"/>
                <a:cs typeface="+mn-lt"/>
              </a:rPr>
              <a:t> </a:t>
            </a:r>
            <a:r>
              <a:rPr lang="en-US" altLang="ko-KR">
                <a:ea typeface="+mn-lt"/>
                <a:cs typeface="+mn-lt"/>
              </a:rPr>
              <a:t>Target</a:t>
            </a:r>
            <a:r>
              <a:rPr lang="ko-KR" dirty="0">
                <a:ea typeface="+mn-lt"/>
                <a:cs typeface="+mn-lt"/>
              </a:rPr>
              <a:t> </a:t>
            </a:r>
            <a:r>
              <a:rPr lang="en-US" altLang="ko-KR">
                <a:ea typeface="+mn-lt"/>
                <a:cs typeface="+mn-lt"/>
              </a:rPr>
              <a:t>Network)</a:t>
            </a:r>
            <a:r>
              <a:rPr lang="ko-KR">
                <a:ea typeface="+mn-lt"/>
                <a:cs typeface="+mn-lt"/>
              </a:rPr>
              <a:t>를 직접 구현하고</a:t>
            </a:r>
            <a:r>
              <a:rPr lang="ko-KR" altLang="en-US" dirty="0">
                <a:ea typeface="+mn-lt"/>
                <a:cs typeface="+mn-lt"/>
              </a:rPr>
              <a:t> </a:t>
            </a:r>
            <a:r>
              <a:rPr lang="ko-KR" dirty="0">
                <a:ea typeface="+mn-lt"/>
                <a:cs typeface="+mn-lt"/>
              </a:rPr>
              <a:t> </a:t>
            </a:r>
            <a:r>
              <a:rPr lang="en-US" altLang="ko-KR">
                <a:ea typeface="+mn-lt"/>
                <a:cs typeface="+mn-lt"/>
              </a:rPr>
              <a:t>CartPole-v1</a:t>
            </a:r>
            <a:r>
              <a:rPr lang="ko-KR">
                <a:ea typeface="+mn-lt"/>
                <a:cs typeface="+mn-lt"/>
              </a:rPr>
              <a:t> 환경에서 재현 실험을 수행하였다</a:t>
            </a:r>
            <a:r>
              <a:rPr lang="en-US" altLang="ko-KR">
                <a:ea typeface="+mn-lt"/>
                <a:cs typeface="+mn-lt"/>
              </a:rPr>
              <a:t>.</a:t>
            </a:r>
            <a:endParaRPr lang="ko-KR" altLang="en-US"/>
          </a:p>
          <a:p>
            <a:pPr marL="0" indent="0">
              <a:lnSpc>
                <a:spcPct val="109999"/>
              </a:lnSpc>
              <a:buNone/>
            </a:pPr>
            <a:r>
              <a:rPr lang="en-US" altLang="ko-KR" dirty="0">
                <a:ea typeface="+mn-lt"/>
                <a:cs typeface="+mn-lt"/>
              </a:rPr>
              <a:t>    - 3</a:t>
            </a:r>
            <a:r>
              <a:rPr lang="ko-KR" dirty="0">
                <a:ea typeface="+mn-lt"/>
                <a:cs typeface="+mn-lt"/>
              </a:rPr>
              <a:t>개 </a:t>
            </a:r>
            <a:r>
              <a:rPr lang="en-US" altLang="ko-KR" dirty="0">
                <a:ea typeface="+mn-lt"/>
                <a:cs typeface="+mn-lt"/>
              </a:rPr>
              <a:t>seed</a:t>
            </a:r>
            <a:r>
              <a:rPr lang="ko-KR">
                <a:ea typeface="+mn-lt"/>
                <a:cs typeface="+mn-lt"/>
              </a:rPr>
              <a:t> 모두에서 성능이 향상되며 </a:t>
            </a:r>
            <a:r>
              <a:rPr lang="en-US" altLang="ko-KR">
                <a:ea typeface="+mn-lt"/>
                <a:cs typeface="+mn-lt"/>
              </a:rPr>
              <a:t>Value-based</a:t>
            </a:r>
            <a:r>
              <a:rPr lang="ko-KR" dirty="0">
                <a:ea typeface="+mn-lt"/>
                <a:cs typeface="+mn-lt"/>
              </a:rPr>
              <a:t> </a:t>
            </a:r>
            <a:r>
              <a:rPr lang="en-US" altLang="ko-KR" dirty="0">
                <a:ea typeface="+mn-lt"/>
                <a:cs typeface="+mn-lt"/>
              </a:rPr>
              <a:t>RL</a:t>
            </a:r>
            <a:r>
              <a:rPr lang="ko-KR" dirty="0">
                <a:ea typeface="+mn-lt"/>
                <a:cs typeface="+mn-lt"/>
              </a:rPr>
              <a:t>의 학습 효과를 실험적으로 확인</a:t>
            </a:r>
            <a:endParaRPr lang="ko-KR"/>
          </a:p>
          <a:p>
            <a:pPr marL="0" indent="0">
              <a:lnSpc>
                <a:spcPct val="109999"/>
              </a:lnSpc>
              <a:buNone/>
            </a:pPr>
            <a:r>
              <a:rPr lang="ko-KR" dirty="0">
                <a:ea typeface="+mn-lt"/>
                <a:cs typeface="+mn-lt"/>
              </a:rPr>
              <a:t>    </a:t>
            </a:r>
            <a:r>
              <a:rPr lang="en-US" altLang="ko-KR" dirty="0">
                <a:ea typeface="+mn-lt"/>
                <a:cs typeface="+mn-lt"/>
              </a:rPr>
              <a:t>-</a:t>
            </a:r>
            <a:r>
              <a:rPr lang="ko-KR" dirty="0">
                <a:ea typeface="+mn-lt"/>
                <a:cs typeface="+mn-lt"/>
              </a:rPr>
              <a:t> 하지만 이동 평균 기준으로 **일반적인 성공 기준</a:t>
            </a:r>
            <a:r>
              <a:rPr lang="en-US" altLang="ko-KR" dirty="0">
                <a:ea typeface="+mn-lt"/>
                <a:cs typeface="+mn-lt"/>
              </a:rPr>
              <a:t>(195</a:t>
            </a:r>
            <a:r>
              <a:rPr lang="ko-KR" dirty="0">
                <a:ea typeface="+mn-lt"/>
                <a:cs typeface="+mn-lt"/>
              </a:rPr>
              <a:t>점</a:t>
            </a:r>
            <a:r>
              <a:rPr lang="en-US" altLang="ko-KR" dirty="0">
                <a:ea typeface="+mn-lt"/>
                <a:cs typeface="+mn-lt"/>
              </a:rPr>
              <a:t>)**</a:t>
            </a:r>
            <a:r>
              <a:rPr lang="ko-KR">
                <a:ea typeface="+mn-lt"/>
                <a:cs typeface="+mn-lt"/>
              </a:rPr>
              <a:t>에는 도달하지 못했으며 평균 성능은 약 </a:t>
            </a:r>
            <a:r>
              <a:rPr lang="en-US" altLang="ko-KR" dirty="0">
                <a:ea typeface="+mn-lt"/>
                <a:cs typeface="+mn-lt"/>
              </a:rPr>
              <a:t>20~40</a:t>
            </a:r>
            <a:r>
              <a:rPr lang="ko-KR" dirty="0">
                <a:ea typeface="+mn-lt"/>
                <a:cs typeface="+mn-lt"/>
              </a:rPr>
              <a:t>점 수준에서 불안정하게 유지되었다</a:t>
            </a:r>
            <a:r>
              <a:rPr lang="en-US" altLang="ko-KR" dirty="0">
                <a:ea typeface="+mn-lt"/>
                <a:cs typeface="+mn-lt"/>
              </a:rPr>
              <a:t>.</a:t>
            </a:r>
            <a:endParaRPr lang="ko-KR" altLang="en-US"/>
          </a:p>
          <a:p>
            <a:pPr>
              <a:lnSpc>
                <a:spcPct val="109999"/>
              </a:lnSpc>
              <a:buFont typeface="Wingdings"/>
              <a:buChar char="§"/>
            </a:pPr>
            <a:r>
              <a:rPr lang="ko-KR"/>
              <a:t> 시사점</a:t>
            </a:r>
          </a:p>
          <a:p>
            <a:pPr marL="0" indent="0">
              <a:lnSpc>
                <a:spcPct val="109999"/>
              </a:lnSpc>
              <a:buNone/>
            </a:pPr>
            <a:r>
              <a:rPr lang="ko-KR" dirty="0">
                <a:ea typeface="+mn-lt"/>
                <a:cs typeface="+mn-lt"/>
              </a:rPr>
              <a:t>    </a:t>
            </a:r>
            <a:r>
              <a:rPr lang="en-US" altLang="ko-KR" dirty="0">
                <a:ea typeface="+mn-lt"/>
                <a:cs typeface="+mn-lt"/>
              </a:rPr>
              <a:t>-</a:t>
            </a:r>
            <a:r>
              <a:rPr lang="ko-KR" dirty="0">
                <a:ea typeface="+mn-lt"/>
                <a:cs typeface="+mn-lt"/>
              </a:rPr>
              <a:t> 탐험</a:t>
            </a:r>
            <a:r>
              <a:rPr lang="en-US" altLang="ko-KR" dirty="0">
                <a:ea typeface="+mn-lt"/>
                <a:cs typeface="+mn-lt"/>
              </a:rPr>
              <a:t>-</a:t>
            </a:r>
            <a:r>
              <a:rPr lang="ko-KR" dirty="0">
                <a:ea typeface="+mn-lt"/>
                <a:cs typeface="+mn-lt"/>
              </a:rPr>
              <a:t>활용 균형(ε 스케줄</a:t>
            </a:r>
            <a:r>
              <a:rPr lang="en-US" altLang="ko-KR" dirty="0">
                <a:ea typeface="+mn-lt"/>
                <a:cs typeface="+mn-lt"/>
              </a:rPr>
              <a:t>),</a:t>
            </a:r>
            <a:r>
              <a:rPr lang="ko-KR" dirty="0">
                <a:ea typeface="+mn-lt"/>
                <a:cs typeface="+mn-lt"/>
              </a:rPr>
              <a:t> </a:t>
            </a:r>
            <a:r>
              <a:rPr lang="en-US" altLang="ko-KR" dirty="0">
                <a:ea typeface="+mn-lt"/>
                <a:cs typeface="+mn-lt"/>
              </a:rPr>
              <a:t>Target</a:t>
            </a:r>
            <a:r>
              <a:rPr lang="ko-KR" dirty="0">
                <a:ea typeface="+mn-lt"/>
                <a:cs typeface="+mn-lt"/>
              </a:rPr>
              <a:t> </a:t>
            </a:r>
            <a:r>
              <a:rPr lang="en-US" altLang="ko-KR" dirty="0">
                <a:ea typeface="+mn-lt"/>
                <a:cs typeface="+mn-lt"/>
              </a:rPr>
              <a:t>update</a:t>
            </a:r>
            <a:r>
              <a:rPr lang="ko-KR" dirty="0">
                <a:ea typeface="+mn-lt"/>
                <a:cs typeface="+mn-lt"/>
              </a:rPr>
              <a:t> 주기</a:t>
            </a:r>
            <a:r>
              <a:rPr lang="en-US" altLang="ko-KR" dirty="0">
                <a:ea typeface="+mn-lt"/>
                <a:cs typeface="+mn-lt"/>
              </a:rPr>
              <a:t>,</a:t>
            </a:r>
            <a:r>
              <a:rPr lang="ko-KR">
                <a:ea typeface="+mn-lt"/>
                <a:cs typeface="+mn-lt"/>
              </a:rPr>
              <a:t> 학습률 등이 성능에 큰 영향을 미치는 민감한 알고리즘임을 확인</a:t>
            </a:r>
            <a:endParaRPr lang="ko-KR"/>
          </a:p>
          <a:p>
            <a:pPr marL="0" indent="0">
              <a:lnSpc>
                <a:spcPct val="109999"/>
              </a:lnSpc>
              <a:buNone/>
            </a:pPr>
            <a:r>
              <a:rPr lang="ko-KR">
                <a:ea typeface="+mn-lt"/>
                <a:cs typeface="+mn-lt"/>
              </a:rPr>
              <a:t>   </a:t>
            </a:r>
            <a:r>
              <a:rPr lang="en-US" altLang="ko-KR">
                <a:ea typeface="+mn-lt"/>
                <a:cs typeface="+mn-lt"/>
              </a:rPr>
              <a:t>-</a:t>
            </a:r>
            <a:r>
              <a:rPr lang="ko-KR">
                <a:ea typeface="+mn-lt"/>
                <a:cs typeface="+mn-lt"/>
              </a:rPr>
              <a:t> 안정적인 수렴을 위해서는 </a:t>
            </a:r>
            <a:r>
              <a:rPr lang="en-US" altLang="ko-KR">
                <a:ea typeface="+mn-lt"/>
                <a:cs typeface="+mn-lt"/>
              </a:rPr>
              <a:t>Double</a:t>
            </a:r>
            <a:r>
              <a:rPr lang="ko-KR" dirty="0">
                <a:ea typeface="+mn-lt"/>
                <a:cs typeface="+mn-lt"/>
              </a:rPr>
              <a:t> </a:t>
            </a:r>
            <a:r>
              <a:rPr lang="en-US" altLang="ko-KR" dirty="0">
                <a:ea typeface="+mn-lt"/>
                <a:cs typeface="+mn-lt"/>
              </a:rPr>
              <a:t>DQN</a:t>
            </a:r>
            <a:r>
              <a:rPr lang="ko-KR" dirty="0">
                <a:ea typeface="+mn-lt"/>
                <a:cs typeface="+mn-lt"/>
              </a:rPr>
              <a:t>, Dueling </a:t>
            </a:r>
            <a:r>
              <a:rPr lang="en-US" altLang="ko-KR" dirty="0">
                <a:ea typeface="+mn-lt"/>
                <a:cs typeface="+mn-lt"/>
              </a:rPr>
              <a:t>DQN</a:t>
            </a:r>
            <a:r>
              <a:rPr lang="ko-KR" dirty="0">
                <a:ea typeface="+mn-lt"/>
                <a:cs typeface="+mn-lt"/>
              </a:rPr>
              <a:t>, </a:t>
            </a:r>
            <a:r>
              <a:rPr lang="en-US" altLang="ko-KR" dirty="0">
                <a:ea typeface="+mn-lt"/>
                <a:cs typeface="+mn-lt"/>
              </a:rPr>
              <a:t>Prioritized</a:t>
            </a:r>
            <a:r>
              <a:rPr lang="ko-KR" dirty="0">
                <a:ea typeface="+mn-lt"/>
                <a:cs typeface="+mn-lt"/>
              </a:rPr>
              <a:t> </a:t>
            </a:r>
            <a:r>
              <a:rPr lang="en-US" altLang="ko-KR" dirty="0">
                <a:ea typeface="+mn-lt"/>
                <a:cs typeface="+mn-lt"/>
              </a:rPr>
              <a:t>Replay</a:t>
            </a:r>
            <a:r>
              <a:rPr lang="ko-KR" dirty="0">
                <a:ea typeface="+mn-lt"/>
                <a:cs typeface="+mn-lt"/>
              </a:rPr>
              <a:t> 등 확장 기법이 유효할 것으로 기대</a:t>
            </a:r>
            <a:endParaRPr lang="ko-KR" dirty="0"/>
          </a:p>
          <a:p>
            <a:pPr>
              <a:buFont typeface="Wingdings"/>
              <a:buChar char="§"/>
            </a:pPr>
            <a:endParaRPr lang="ko-KR" altLang="en-US" dirty="0"/>
          </a:p>
          <a:p>
            <a:pPr>
              <a:buFont typeface="Wingdings"/>
              <a:buChar char="§"/>
            </a:pP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AE4DC3-6649-5ADC-F413-C86B9DA0E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92E607-4A3C-62DB-E517-839080714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766325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Custom 8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602636BD-A055-489B-83EC-AD971B7E5F9C}" vid="{CD33A9BC-C4B5-4F36-8A14-490DC4E38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DylanVTI</vt:lpstr>
      <vt:lpstr>강화학습  Reproducing Deep Q-network(DQN) on CartPole-v1 (재현 가능한 DeepRL: DQN 논문의 Cartpole 환경 적용)​</vt:lpstr>
      <vt:lpstr>프로젝트 개요 및 목표</vt:lpstr>
      <vt:lpstr>2. 참고 논문 소개</vt:lpstr>
      <vt:lpstr>3. 강화학습 환경의 정의</vt:lpstr>
      <vt:lpstr>4. DQN 알고리즘 개요</vt:lpstr>
      <vt:lpstr>5. 네트워크 구조 및 구현 개요</vt:lpstr>
      <vt:lpstr>6. 하이퍼파라미터 설정</vt:lpstr>
      <vt:lpstr>7. 기본 설정에서의 학습 곡선 (Baseline DQN Results)</vt:lpstr>
      <vt:lpstr>8. 하이퍼파라미터 및 Seed 변화에 따른 성능 비교</vt:lpstr>
      <vt:lpstr>9. 결론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456</cp:revision>
  <dcterms:created xsi:type="dcterms:W3CDTF">2025-12-06T05:05:25Z</dcterms:created>
  <dcterms:modified xsi:type="dcterms:W3CDTF">2025-12-06T15:59:57Z</dcterms:modified>
</cp:coreProperties>
</file>